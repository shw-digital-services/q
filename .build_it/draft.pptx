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b216936be94692" /><Relationship Type="http://schemas.openxmlformats.org/officeDocument/2006/relationships/extended-properties" Target="/docProps/app.xml" Id="R864246b6885d42c0" /><Relationship Type="http://schemas.openxmlformats.org/officeDocument/2006/relationships/officeDocument" Target="/ppt/presentation.xml" Id="R2141a48ae69f48c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025a095c0c7241dd"/>
  </p:sldMasterIdLst>
  <p:notesMasterIdLst>
    <p:notesMasterId xmlns:r="http://schemas.openxmlformats.org/officeDocument/2006/relationships" r:id="R1a2303cd49f24d97"/>
  </p:notesMasterIdLst>
  <p:sldIdLst>
    <p:sldId xmlns:r="http://schemas.openxmlformats.org/officeDocument/2006/relationships" id="256" r:id="R2f5c13c0250345bf"/>
    <p:sldId xmlns:r="http://schemas.openxmlformats.org/officeDocument/2006/relationships" id="257" r:id="Racc584a077054c71"/>
    <p:sldId xmlns:r="http://schemas.openxmlformats.org/officeDocument/2006/relationships" id="258" r:id="R4b053fffd84b48b2"/>
    <p:sldId xmlns:r="http://schemas.openxmlformats.org/officeDocument/2006/relationships" id="259" r:id="R8e3b86fd7fb5428f"/>
    <p:sldId xmlns:r="http://schemas.openxmlformats.org/officeDocument/2006/relationships" id="260" r:id="R67ffd9282822480f"/>
    <p:sldId xmlns:r="http://schemas.openxmlformats.org/officeDocument/2006/relationships" id="261" r:id="R9bfa7af75a424303"/>
    <p:sldId xmlns:r="http://schemas.openxmlformats.org/officeDocument/2006/relationships" id="262" r:id="Rdc0b0b4c8e674028"/>
    <p:sldId xmlns:r="http://schemas.openxmlformats.org/officeDocument/2006/relationships" id="263" r:id="R76c3ab9de76c4ba3"/>
    <p:sldId xmlns:r="http://schemas.openxmlformats.org/officeDocument/2006/relationships" id="264" r:id="Ra577b3c4f8724356"/>
    <p:sldId xmlns:r="http://schemas.openxmlformats.org/officeDocument/2006/relationships" id="265" r:id="R34001442a2ca4956"/>
    <p:sldId xmlns:r="http://schemas.openxmlformats.org/officeDocument/2006/relationships" id="266" r:id="R08922acc9b70463e"/>
    <p:sldId xmlns:r="http://schemas.openxmlformats.org/officeDocument/2006/relationships" id="267" r:id="Rc4a4ced9cdb9455d"/>
    <p:sldId xmlns:r="http://schemas.openxmlformats.org/officeDocument/2006/relationships" id="268" r:id="R34bfaa6659fc430c"/>
    <p:sldId xmlns:r="http://schemas.openxmlformats.org/officeDocument/2006/relationships" id="269" r:id="R64051a298a1f40e3"/>
    <p:sldId xmlns:r="http://schemas.openxmlformats.org/officeDocument/2006/relationships" id="270" r:id="R88da2d4ddac647bd"/>
    <p:sldId xmlns:r="http://schemas.openxmlformats.org/officeDocument/2006/relationships" id="271" r:id="R4f2fde1ed063439a"/>
    <p:sldId xmlns:r="http://schemas.openxmlformats.org/officeDocument/2006/relationships" id="272" r:id="R17a290c66e644715"/>
    <p:sldId xmlns:r="http://schemas.openxmlformats.org/officeDocument/2006/relationships" id="273" r:id="R8ad7e925f3f04a71"/>
    <p:sldId xmlns:r="http://schemas.openxmlformats.org/officeDocument/2006/relationships" id="274" r:id="Rdea011503fad4bed"/>
    <p:sldId xmlns:r="http://schemas.openxmlformats.org/officeDocument/2006/relationships" id="275" r:id="R3d4d636916724531"/>
    <p:sldId xmlns:r="http://schemas.openxmlformats.org/officeDocument/2006/relationships" id="276" r:id="Ra5538a438ecc485c"/>
    <p:sldId xmlns:r="http://schemas.openxmlformats.org/officeDocument/2006/relationships" id="277" r:id="Reda655769a1f4390"/>
  </p:sldIdLst>
  <p:sldSz cx="12192000" cy="6858000"/>
  <p:notesSz cx="6858000" cy="9144000"/>
  <p:embeddedFontLst>
    <p:embeddedFont>
      <p:font typeface="Inter"/>
      <p:regular xmlns:r="http://schemas.openxmlformats.org/officeDocument/2006/relationships" r:id="Rdc93f38c862e4fba"/>
      <p:bold xmlns:r="http://schemas.openxmlformats.org/officeDocument/2006/relationships" r:id="R5b34ed010d1c47c2"/>
      <p:italic xmlns:r="http://schemas.openxmlformats.org/officeDocument/2006/relationships" r:id="Re2e140153a9b4091"/>
      <p:boldItalic xmlns:r="http://schemas.openxmlformats.org/officeDocument/2006/relationships" r:id="R5861ceb77df3416c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85572bea4b4b5b" /><Relationship Type="http://schemas.openxmlformats.org/officeDocument/2006/relationships/slideMaster" Target="/ppt/slideMasters/slideMaster1.xml" Id="R025a095c0c7241dd" /><Relationship Type="http://schemas.openxmlformats.org/officeDocument/2006/relationships/notesMaster" Target="/ppt/notesMasters/notesMaster1.xml" Id="R1a2303cd49f24d97" /><Relationship Type="http://schemas.openxmlformats.org/officeDocument/2006/relationships/presProps" Target="/ppt/presProps.xml" Id="Rf7d4ae0d26554fbe" /><Relationship Type="http://schemas.openxmlformats.org/officeDocument/2006/relationships/viewProps" Target="/ppt/viewProps.xml" Id="R3cda8b26e0df4bee" /><Relationship Type="http://schemas.openxmlformats.org/officeDocument/2006/relationships/tableStyles" Target="/ppt/tableStyles.xml" Id="Rf2e8a2f7778e487a" /><Relationship Type="http://schemas.openxmlformats.org/officeDocument/2006/relationships/font" Target="/ppt/fonts/font.dat" Id="Rdc93f38c862e4fba" /><Relationship Type="http://schemas.openxmlformats.org/officeDocument/2006/relationships/font" Target="/ppt/fonts/font2.dat" Id="R5b34ed010d1c47c2" /><Relationship Type="http://schemas.openxmlformats.org/officeDocument/2006/relationships/font" Target="/ppt/fonts/font3.dat" Id="Re2e140153a9b4091" /><Relationship Type="http://schemas.openxmlformats.org/officeDocument/2006/relationships/font" Target="/ppt/fonts/font4.dat" Id="R5861ceb77df3416c" /><Relationship Type="http://schemas.openxmlformats.org/officeDocument/2006/relationships/slide" Target="/ppt/slides/slide1.xml" Id="R2f5c13c0250345bf" /><Relationship Type="http://schemas.openxmlformats.org/officeDocument/2006/relationships/slide" Target="/ppt/slides/slide2.xml" Id="Racc584a077054c71" /><Relationship Type="http://schemas.openxmlformats.org/officeDocument/2006/relationships/slide" Target="/ppt/slides/slide3.xml" Id="R4b053fffd84b48b2" /><Relationship Type="http://schemas.openxmlformats.org/officeDocument/2006/relationships/slide" Target="/ppt/slides/slide4.xml" Id="R8e3b86fd7fb5428f" /><Relationship Type="http://schemas.openxmlformats.org/officeDocument/2006/relationships/slide" Target="/ppt/slides/slide5.xml" Id="R67ffd9282822480f" /><Relationship Type="http://schemas.openxmlformats.org/officeDocument/2006/relationships/slide" Target="/ppt/slides/slide6.xml" Id="R9bfa7af75a424303" /><Relationship Type="http://schemas.openxmlformats.org/officeDocument/2006/relationships/slide" Target="/ppt/slides/slide7.xml" Id="Rdc0b0b4c8e674028" /><Relationship Type="http://schemas.openxmlformats.org/officeDocument/2006/relationships/slide" Target="/ppt/slides/slide8.xml" Id="R76c3ab9de76c4ba3" /><Relationship Type="http://schemas.openxmlformats.org/officeDocument/2006/relationships/slide" Target="/ppt/slides/slide9.xml" Id="Ra577b3c4f8724356" /><Relationship Type="http://schemas.openxmlformats.org/officeDocument/2006/relationships/slide" Target="/ppt/slides/slide10.xml" Id="R34001442a2ca4956" /><Relationship Type="http://schemas.openxmlformats.org/officeDocument/2006/relationships/slide" Target="/ppt/slides/slide11.xml" Id="R08922acc9b70463e" /><Relationship Type="http://schemas.openxmlformats.org/officeDocument/2006/relationships/slide" Target="/ppt/slides/slide12.xml" Id="Rc4a4ced9cdb9455d" /><Relationship Type="http://schemas.openxmlformats.org/officeDocument/2006/relationships/slide" Target="/ppt/slides/slide13.xml" Id="R34bfaa6659fc430c" /><Relationship Type="http://schemas.openxmlformats.org/officeDocument/2006/relationships/slide" Target="/ppt/slides/slide14.xml" Id="R64051a298a1f40e3" /><Relationship Type="http://schemas.openxmlformats.org/officeDocument/2006/relationships/slide" Target="/ppt/slides/slide15.xml" Id="R88da2d4ddac647bd" /><Relationship Type="http://schemas.openxmlformats.org/officeDocument/2006/relationships/slide" Target="/ppt/slides/slide16.xml" Id="R4f2fde1ed063439a" /><Relationship Type="http://schemas.openxmlformats.org/officeDocument/2006/relationships/slide" Target="/ppt/slides/slide17.xml" Id="R17a290c66e644715" /><Relationship Type="http://schemas.openxmlformats.org/officeDocument/2006/relationships/slide" Target="/ppt/slides/slide18.xml" Id="R8ad7e925f3f04a71" /><Relationship Type="http://schemas.openxmlformats.org/officeDocument/2006/relationships/slide" Target="/ppt/slides/slide19.xml" Id="Rdea011503fad4bed" /><Relationship Type="http://schemas.openxmlformats.org/officeDocument/2006/relationships/slide" Target="/ppt/slides/slide20.xml" Id="R3d4d636916724531" /><Relationship Type="http://schemas.openxmlformats.org/officeDocument/2006/relationships/slide" Target="/ppt/slides/slide21.xml" Id="Ra5538a438ecc485c" /><Relationship Type="http://schemas.openxmlformats.org/officeDocument/2006/relationships/slide" Target="/ppt/slides/slide22.xml" Id="Reda655769a1f43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1f4908e8274a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acc40ef37a4d0e" /><Relationship Type="http://schemas.openxmlformats.org/officeDocument/2006/relationships/notesMaster" Target="/ppt/notesMasters/notesMaster1.xml" Id="R6c8eb3b0234047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8488d8d178443c" /><Relationship Type="http://schemas.openxmlformats.org/officeDocument/2006/relationships/notesMaster" Target="/ppt/notesMasters/notesMaster1.xml" Id="R16794532cd6b49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2c1a2ab78144c4" /><Relationship Type="http://schemas.openxmlformats.org/officeDocument/2006/relationships/notesMaster" Target="/ppt/notesMasters/notesMaster1.xml" Id="R14771ead8b9840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0f76e5a59848be" /><Relationship Type="http://schemas.openxmlformats.org/officeDocument/2006/relationships/notesMaster" Target="/ppt/notesMasters/notesMaster1.xml" Id="R1ed7095d12ff4a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d51aad93de4692" /><Relationship Type="http://schemas.openxmlformats.org/officeDocument/2006/relationships/notesMaster" Target="/ppt/notesMasters/notesMaster1.xml" Id="R971f097cbac447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a3b08d4f884456" /><Relationship Type="http://schemas.openxmlformats.org/officeDocument/2006/relationships/notesMaster" Target="/ppt/notesMasters/notesMaster1.xml" Id="R064a6117102542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4a328773a54cbb" /><Relationship Type="http://schemas.openxmlformats.org/officeDocument/2006/relationships/notesMaster" Target="/ppt/notesMasters/notesMaster1.xml" Id="R3a7e7bc033a14c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509e5857c0436b" /><Relationship Type="http://schemas.openxmlformats.org/officeDocument/2006/relationships/notesMaster" Target="/ppt/notesMasters/notesMaster1.xml" Id="R08c6d3d788b44b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3d44c8a4174818" /><Relationship Type="http://schemas.openxmlformats.org/officeDocument/2006/relationships/notesMaster" Target="/ppt/notesMasters/notesMaster1.xml" Id="R7e32d672eaad47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48500aa6594882" /><Relationship Type="http://schemas.openxmlformats.org/officeDocument/2006/relationships/notesMaster" Target="/ppt/notesMasters/notesMaster1.xml" Id="Re7a8cd7ef30342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0694ea81aa43f5" /><Relationship Type="http://schemas.openxmlformats.org/officeDocument/2006/relationships/notesMaster" Target="/ppt/notesMasters/notesMaster1.xml" Id="R38ad048310274b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759090dcc84105" /><Relationship Type="http://schemas.openxmlformats.org/officeDocument/2006/relationships/notesMaster" Target="/ppt/notesMasters/notesMaster1.xml" Id="R95588a2a1ed84b7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9e86bb6b864415" /><Relationship Type="http://schemas.openxmlformats.org/officeDocument/2006/relationships/notesMaster" Target="/ppt/notesMasters/notesMaster1.xml" Id="Rc9691f0811094d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c24768d6384d8e" /><Relationship Type="http://schemas.openxmlformats.org/officeDocument/2006/relationships/notesMaster" Target="/ppt/notesMasters/notesMaster1.xml" Id="R159d3e02d0cf4e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175cc512f04dc0" /><Relationship Type="http://schemas.openxmlformats.org/officeDocument/2006/relationships/notesMaster" Target="/ppt/notesMasters/notesMaster1.xml" Id="R125d860b8cd94d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b2628304ea466c" /><Relationship Type="http://schemas.openxmlformats.org/officeDocument/2006/relationships/notesMaster" Target="/ppt/notesMasters/notesMaster1.xml" Id="Rf46b871147aa47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856bc325594ca8" /><Relationship Type="http://schemas.openxmlformats.org/officeDocument/2006/relationships/notesMaster" Target="/ppt/notesMasters/notesMaster1.xml" Id="Rdc1e1b0bfc13434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e392a8f95ea4538" /><Relationship Type="http://schemas.openxmlformats.org/officeDocument/2006/relationships/notesMaster" Target="/ppt/notesMasters/notesMaster1.xml" Id="R01ad00b4b5be4e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3c9a4979b62439e" /><Relationship Type="http://schemas.openxmlformats.org/officeDocument/2006/relationships/notesMaster" Target="/ppt/notesMasters/notesMaster1.xml" Id="R0b32821a691d4e4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26de5d5d5c47a2" /><Relationship Type="http://schemas.openxmlformats.org/officeDocument/2006/relationships/notesMaster" Target="/ppt/notesMasters/notesMaster1.xml" Id="R0b9d29fc7107429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fd30c0400a34b8c" /><Relationship Type="http://schemas.openxmlformats.org/officeDocument/2006/relationships/notesMaster" Target="/ppt/notesMasters/notesMaster1.xml" Id="R16fd60d20d224e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4324b9b7b554918" /><Relationship Type="http://schemas.openxmlformats.org/officeDocument/2006/relationships/notesMaster" Target="/ppt/notesMasters/notesMaster1.xml" Id="R57d922a7df4e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Welcome agents and explain how their work supports a respectful, reliable customer experience.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Set expectations for participation, questions and asking for help.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Pair introductions: each person shares one service quality they value as a customer and </a:t>
            </a:r>
            <a:r>
              <a:t>one behavior </a:t>
            </a:r>
            <a:r>
              <a:t>that demonstrates it. Invite a few examples; no personal wellbeing disclosures are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Q as a secure platform combining technology, wellbeing tools, guided support and personal growth resources.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visible features listed here: mood tracking, journaling, guided support and reflection resources. Avoid promising clinical outcomes or features not shown in approved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pairs, give a 30-second plain-language explanation of Q to a new user. Partners identify one clear phrase and one point that needs approved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Connect personal pace, access to support, trust, privacy and wellbeing to everyday service choices.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agents to consider how an interaction can respect a customer’s own goals without directing or judging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For each value on the slide, ask pairs to name one observable support behaviour that would demonstrate it. Share one example per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morning, afternoon and finish, showing how the topics build from safe principles to practice.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practice and sign-off are opportunities to identify support needs, not a reason to guess when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Ask each learner to choose one topic they feel confident about and one they want to practise. Capture the latter for coaching later in the 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Emphasise listening, non-judgement, accurate approved information and staying within training and access.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Distinguish helpful service from counselling, diagnosis, personal opinions or making commitments outside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Read three short statements aloud: “I can show you where to find that setting”; “It sounds like you have depression”; “I’ll guarantee this is fixed today.” Learners classify as in role or out of role and rewrite the out-of-role replies safely.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pause is appropriate when identity, access, risk or the correct next step is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Escalation protects the customer and agent; use the designated route and share only relevant facts. Do not promise an outcome or investigate beyond authority.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Scenario sort: learners label each case “continue”, “pause and check” or “escalate”: uncertain account identity; request for a feature walkthrough; report of a security concern; question asking for a legal interpretation. Discuss the route specified by local procedure.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information only for a clear support purpose and only what is needed.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records factual, respectful and in approved systems; route rights or legal questions to the designated contact rather than deciding them.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Show a fictional over-detailed case note. Ask learners to remove irrelevant personal details and rewrite it as a concise, factual record. Discuss what should be routed instead of answered directly.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Reinforce never requesting passwords, one-time codes, reset links, journals, mood logs or private-chat screenshots.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recipient, attachments and quoted history before sending; keep customer information in approved tools.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“Spot the risk” email review: provide a fictional message containing a wrong recipient, unnecessary screenshot and quoted customer history. Learners identify each risk and state the safe correction before sending.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Treat suspected disclosure, account compromise or unusual access as a concern to report promptly through the designated incident route.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Recognise a rights request even when phrased informally; acknowledge it and route it to the designated privacy contact. Do not delete, export or promise a deadline unless procedure authorises it.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 triads, role-play an agent receiving (1) a suspected account compromise and (2) a request to see or erase personal information. Practise acknowledging, recording only necessary facts and routing without making a determination.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Demonstrate the platform areas named in the approved environment: mood tracking, journaling, guided programmes, memory features and user settings.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agents should guide navigation, not inspect or request private wellbeing content. Confirm any uncertain feature details against current guidance.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learners a guided “find the setting” task in a training or demo account. Ask them to describe the navigation steps without opening or discussing personal entries.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what a feature does in neutral, plain language and explain its limits using approved wording.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Do not interpret mood entries, infer diagnoses or claim that a feature will produce a particular wellbeing result.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Learners rewrite two overclaims into safe explanations: “This will cure your anxiety” and “I can tell from your mood log what is wrong.” Ask them to keep the explanation useful and non-clinical.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Warmth and empathy can coexist with clear professional boundaries.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Acknowledge feelings without probing for intimate details; offer an appropriate platform or support route and escalate concerns using procedure.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Role-play a customer asking the agent to interpret a journal entry. Practise a brief empathic boundary statement and an appropriate next step; observer gives feedback on tone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Identify the approved communication tools and the organisation’s expectations for account security and professional messages.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recipients, attachments, links and quoted history; use the correct account and approved storage locations.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Using a training mailbox, learners draft a short acknowledgement, then run a pre-send check aloud: recipient, purpose, minimum necessary content, attachment and quoted history.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the difference between shared team work and an agent’s assigned/personal work queue as defined by local setup.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Make ownership visible: avoid duplicate replies, check assignment/status and leave a clear handover when work moves.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Simulate two agents seeing the same enquiry. Learners agree who owns the reply, update the practice status and write a concise internal handover.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Capture accurate identifiers and only information needed to resolve or route the enquiry.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status, owner and activity history current; distinguish customer-visible replies from internal notes.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From a fictional enquiry, learners create a practice record and ticket with a clear subject, concise factual summary, appropriate category/owner and next action. Review for unnecessary sensitive detail.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useful note lets the next agent understand what happened, what was checked, what remains and who owns the next step.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Close only when the applicable process says the request is complete; avoid unexplained closure or unsupported claims.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Give pairs a messy fictional case history. They produce a four-part handover: issue, actions taken, current status, next owner/action. Another pair checks if it is factual and sufficient.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Walk through the route from finding the support channel to triage, response, hand-off and follow-up.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Keep the customer informed using confirmed information; check the sent record before retrying if a notification’s status is uncertain.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Sequence shuffled workflow cards into the correct local support journey. At each hand-off, learners identify what the customer should be told and what belongs in an internal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A good reply acknowledges the question, gives a clear supported next step and uses a respectful tone.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Templates are drafts: verify names, details, links and relevance. Avoid invented timelines, guarantees and unsupported claims.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Rewrite a vague or overly certain response into three parts: acknowledgement, one confirmed next step, and a realistic closing that does not promise an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Explain that the simulation combines listening, feature guidance, privacy, records, written communication and escalation.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fictional details only; learners should pause and consult guidance whenever facts or authority are unclear.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Run a small-group case: customer asks about a Q feature, includes sensitive journal content, and reports difficulty accessing an account. Assign agent, customer and observer roles; rotate and debrief the safe next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Describe the observable criteria: minimum-information handling, accurate explanations, professional boundaries, correct tool use, sound escalation and clear communication.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Feedback should identify evidence, a specific improvement and a chance to practise again. Follow the organisation’s sign-off process.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Learner completes one short fictional case while trainer observes with the listed criteria. Give one strength and one specific practice point; allow a second attempt where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Check understanding of Q, privacy, tools, boundaries and escalation, then address gaps through coaching.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Confirm accounts, permissions and local procedures with the authorised supervisor; sign-off follows the stated process before live work.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Use a brief verbal round: “What would make you pause?”, “What must never be requested?”, “Where does a rights request go?” Learner identifies one next coaching goal and any unanswered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Discussion points: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Close by reinforcing curiosity, privacy and asking for help when unsure.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Invite final questions and explain where agents can find current guidance and supervisor support.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Activity: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• Each learner completes an exit ticket: one safe practice they will use, one escalation route they will remember, and one question or coaching need. Thank the group and confirm the next step in onboarding.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4ae56a7bd4e9e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7c81c2cfc74ffe" /><Relationship Type="http://schemas.openxmlformats.org/officeDocument/2006/relationships/slideLayout" Target="/ppt/slideLayouts/slideLayout1.xml" Id="Rbf7518feb9de4fe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7518feb9de4fe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91efbc4234a90" /><Relationship Type="http://schemas.openxmlformats.org/officeDocument/2006/relationships/image" Target="/ppt/media/image.png" Id="Rbf1a9f02e9694759" /><Relationship Type="http://schemas.openxmlformats.org/officeDocument/2006/relationships/notesSlide" Target="/ppt/notesSlides/notesSlide1.xml" Id="Re6ca8ac17b364e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bf64d140c4f82" /><Relationship Type="http://schemas.openxmlformats.org/officeDocument/2006/relationships/image" Target="/ppt/media/image2.png" Id="R67d5e4f9e67e49ab" /><Relationship Type="http://schemas.openxmlformats.org/officeDocument/2006/relationships/notesSlide" Target="/ppt/notesSlides/notesSlide2.xml" Id="R21ad0d3923e546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2b1e06749f445c" /><Relationship Type="http://schemas.openxmlformats.org/officeDocument/2006/relationships/image" Target="/ppt/media/image2.png" Id="Re62338550ea44dcd" /><Relationship Type="http://schemas.openxmlformats.org/officeDocument/2006/relationships/notesSlide" Target="/ppt/notesSlides/notesSlide3.xml" Id="R53fcf3a30c8843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f68f1d334400b" /><Relationship Type="http://schemas.openxmlformats.org/officeDocument/2006/relationships/image" Target="/ppt/media/image2.png" Id="Re6d3c5f917b248da" /><Relationship Type="http://schemas.openxmlformats.org/officeDocument/2006/relationships/notesSlide" Target="/ppt/notesSlides/notesSlide4.xml" Id="R191a130abdcf46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224d00b7c4de0" /><Relationship Type="http://schemas.openxmlformats.org/officeDocument/2006/relationships/image" Target="/ppt/media/image2.png" Id="R4d8d10b671274756" /><Relationship Type="http://schemas.openxmlformats.org/officeDocument/2006/relationships/notesSlide" Target="/ppt/notesSlides/notesSlide5.xml" Id="R53932225afa34a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202ed7d1249df" /><Relationship Type="http://schemas.openxmlformats.org/officeDocument/2006/relationships/image" Target="/ppt/media/image2.png" Id="Rc269ae57f4bd48d0" /><Relationship Type="http://schemas.openxmlformats.org/officeDocument/2006/relationships/notesSlide" Target="/ppt/notesSlides/notesSlide6.xml" Id="R189cff0d1dd74a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9edcb85124fea" /><Relationship Type="http://schemas.openxmlformats.org/officeDocument/2006/relationships/image" Target="/ppt/media/image2.png" Id="Rb11d89bcaa894db6" /><Relationship Type="http://schemas.openxmlformats.org/officeDocument/2006/relationships/notesSlide" Target="/ppt/notesSlides/notesSlide7.xml" Id="R6e83412180ff42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f0e80e50bd4d53" /><Relationship Type="http://schemas.openxmlformats.org/officeDocument/2006/relationships/image" Target="/ppt/media/image2.png" Id="R8332ac11744040bc" /><Relationship Type="http://schemas.openxmlformats.org/officeDocument/2006/relationships/notesSlide" Target="/ppt/notesSlides/notesSlide8.xml" Id="R04d9357dd23f42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44299a54d4832" /><Relationship Type="http://schemas.openxmlformats.org/officeDocument/2006/relationships/image" Target="/ppt/media/image2.png" Id="R2606f2e7fb574802" /><Relationship Type="http://schemas.openxmlformats.org/officeDocument/2006/relationships/notesSlide" Target="/ppt/notesSlides/notesSlide9.xml" Id="Rf4af1d65cebf47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94bcdacd74945" /><Relationship Type="http://schemas.openxmlformats.org/officeDocument/2006/relationships/image" Target="/ppt/media/image2.png" Id="R28e58b40a9354cbd" /><Relationship Type="http://schemas.openxmlformats.org/officeDocument/2006/relationships/notesSlide" Target="/ppt/notesSlides/notesSlide10.xml" Id="R7e4a292f3eb041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0583c22284d5e" /><Relationship Type="http://schemas.openxmlformats.org/officeDocument/2006/relationships/image" Target="/ppt/media/image2.png" Id="R070b0441e43c4d17" /><Relationship Type="http://schemas.openxmlformats.org/officeDocument/2006/relationships/notesSlide" Target="/ppt/notesSlides/notesSlide11.xml" Id="Ra4dd8a2fafdd4c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5a505783a4bd8" /><Relationship Type="http://schemas.openxmlformats.org/officeDocument/2006/relationships/image" Target="/ppt/media/image2.png" Id="R26db7aec8b324f4c" /><Relationship Type="http://schemas.openxmlformats.org/officeDocument/2006/relationships/image" Target="/ppt/media/image3.png" Id="R673e1421bdbc47e0" /><Relationship Type="http://schemas.openxmlformats.org/officeDocument/2006/relationships/hyperlink" Target="https://slidesai.io/?utm_source=export&amp;utm_medium=pptx" TargetMode="External" Id="Reb9ba7e6b4924309" /><Relationship Type="http://schemas.openxmlformats.org/officeDocument/2006/relationships/notesSlide" Target="/ppt/notesSlides/notesSlide12.xml" Id="R18e50687dcbc4ce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23f5ea45141d7" /><Relationship Type="http://schemas.openxmlformats.org/officeDocument/2006/relationships/image" Target="/ppt/media/image2.png" Id="Raca4af15f5724e8d" /><Relationship Type="http://schemas.openxmlformats.org/officeDocument/2006/relationships/notesSlide" Target="/ppt/notesSlides/notesSlide13.xml" Id="R33583e49898e44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259d59ff349d5" /><Relationship Type="http://schemas.openxmlformats.org/officeDocument/2006/relationships/image" Target="/ppt/media/image2.png" Id="R8c6e1f52b91a4000" /><Relationship Type="http://schemas.openxmlformats.org/officeDocument/2006/relationships/notesSlide" Target="/ppt/notesSlides/notesSlide14.xml" Id="Rc1c38317771947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e59bf61a342c5" /><Relationship Type="http://schemas.openxmlformats.org/officeDocument/2006/relationships/image" Target="/ppt/media/image2.png" Id="Ra4b8f97fbbbd4a2d" /><Relationship Type="http://schemas.openxmlformats.org/officeDocument/2006/relationships/notesSlide" Target="/ppt/notesSlides/notesSlide15.xml" Id="R4f7b0b596b114f3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fe2a1e000439e" /><Relationship Type="http://schemas.openxmlformats.org/officeDocument/2006/relationships/image" Target="/ppt/media/image2.png" Id="Rd1ad04c95d9b4721" /><Relationship Type="http://schemas.openxmlformats.org/officeDocument/2006/relationships/notesSlide" Target="/ppt/notesSlides/notesSlide16.xml" Id="Rdc4af04914c447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e44a4c0d24d7d" /><Relationship Type="http://schemas.openxmlformats.org/officeDocument/2006/relationships/image" Target="/ppt/media/image2.png" Id="R05603c94ed1447a4" /><Relationship Type="http://schemas.openxmlformats.org/officeDocument/2006/relationships/notesSlide" Target="/ppt/notesSlides/notesSlide17.xml" Id="Rf435d213c3c541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f5a4ea376b47be" /><Relationship Type="http://schemas.openxmlformats.org/officeDocument/2006/relationships/image" Target="/ppt/media/image2.png" Id="Ra31361f2ee3f4418" /><Relationship Type="http://schemas.openxmlformats.org/officeDocument/2006/relationships/notesSlide" Target="/ppt/notesSlides/notesSlide18.xml" Id="Rbfaf1f3941d240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a71557b3c433d" /><Relationship Type="http://schemas.openxmlformats.org/officeDocument/2006/relationships/image" Target="/ppt/media/image2.png" Id="R156c2cb485a7446e" /><Relationship Type="http://schemas.openxmlformats.org/officeDocument/2006/relationships/notesSlide" Target="/ppt/notesSlides/notesSlide19.xml" Id="Rd01d1ffaf2a846a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718686e80484c" /><Relationship Type="http://schemas.openxmlformats.org/officeDocument/2006/relationships/image" Target="/ppt/media/image2.png" Id="Rccee9b674e0943b6" /><Relationship Type="http://schemas.openxmlformats.org/officeDocument/2006/relationships/notesSlide" Target="/ppt/notesSlides/notesSlide20.xml" Id="R36d01e966056495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5098bbbea4162" /><Relationship Type="http://schemas.openxmlformats.org/officeDocument/2006/relationships/image" Target="/ppt/media/image2.png" Id="R773b2cf366e44a15" /><Relationship Type="http://schemas.openxmlformats.org/officeDocument/2006/relationships/notesSlide" Target="/ppt/notesSlides/notesSlide21.xml" Id="R0e19f99846544eb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6e1efc9464589" /><Relationship Type="http://schemas.openxmlformats.org/officeDocument/2006/relationships/image" Target="/ppt/media/image2.png" Id="R6973c3a178354a67" /><Relationship Type="http://schemas.openxmlformats.org/officeDocument/2006/relationships/notesSlide" Target="/ppt/notesSlides/notesSlide22.xml" Id="R3a940d0465c248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C9611A3D-7443-4FD3-BE4F-41A0FA3C6AC7}"/>
              </a:ext>
            </a:extLst>
          </p:cNvPr>
          <p:cNvCxnSpPr/>
          <p:nvPr/>
        </p:nvCxnSpPr>
        <p:spPr>
          <a:xfrm xmlns:a="http://schemas.openxmlformats.org/drawingml/2006/main">
            <a:off x="876300" y="909638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6667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311014D3-89A8-4C37-B759-389CCB6E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0439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IT Support Staff</a:t>
            </a:r>
            <a:endParaRPr sz="4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Inter"/>
              <a:buNone/>
            </a:pPr>
            <a:r>
              <a:rPr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Induction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7274046-F035-4BEA-B44E-229D5E3A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D6FF"/>
              </a:buClr>
              <a:buSzPts val="2250"/>
              <a:buFont typeface="Inter"/>
              <a:buNone/>
            </a:pPr>
            <a:r>
              <a:rPr sz="2250" b="0" i="0" u="none" strike="noStrike" cap="none">
                <a:solidFill>
                  <a:srgbClr val="E2D6FF"/>
                </a:solidFill>
                <a:latin typeface="Inter"/>
                <a:ea typeface="Inter"/>
                <a:cs typeface="Inter"/>
              </a:rPr>
              <a:t>A practical introduction to supporting Q staff and services safely.</a:t>
            </a:r>
            <a:endParaRPr sz="225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0D268EF1-3461-4679-8785-4F3584D6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72175"/>
            <a:ext cx="139013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80"/>
              <a:buFont typeface="Inter"/>
              <a:buNone/>
            </a:pPr>
            <a:r>
              <a:rPr sz="158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</a:t>
            </a:r>
            <a:endParaRPr sz="15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9CAA748-1580-4718-95ED-0A8986EC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123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0FDFC6B7-E1A1-4607-8D6F-2EDFFAA7DB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1a9f02e969475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48850" y="1790700"/>
            <a:ext cx="1924050" cy="1924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51654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EABAD42D-FD45-43E7-83B5-8210B415716D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B896E2CE-057A-4CD3-AB96-4ADF76C5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What is Q?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9CD6598E-D24B-42A4-B46D-258DA0CF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An AI-powered wellbeing and personal growth platform for LGBTQ+ people and allies.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348829BF-09DD-4377-B5EC-60A059F5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Technology and wellbeing tools in one secure platform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Guided support, mood tracking and journaling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Resources for reflection and personal growth</a:t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EE240636-00C2-4A0B-B096-6D97D564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03B94B37-4A42-432C-B6A6-A342391D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AC7B8647-5870-4D02-9FC5-89AD57D4B9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d5e4f9e67e49a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40891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3B506D1C-B38E-4B9B-8304-D2F4787DAB35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1BEEDCF-9556-4BEC-AC52-3E844D1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Q’s mission and values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C87B0E37-740F-48AE-A981-7CB5B368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Support people as they understand themselves and make changes that feel right for them.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0B1C1BD5-0FDC-4A69-BA0B-88C57DD7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Build positive habits at the person’s own pace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Make support available when it is needed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Put trust, privacy and user wellbeing at the centre</a:t>
            </a: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77C359D1-562B-47D1-8163-D4DE00B7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35321BE0-D4A1-4B40-A70A-1765986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C239A00B-D3D2-4A83-8E5C-BCE37120AC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2338550ea44dc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492271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C7C1A6E0-B33B-449E-8CC9-A8498B62C30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C498A30F-3A34-4295-B1EF-D5667B31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Induction at a glance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9E54A5F2-0237-454A-B4A1-C114ECB3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A day of practical learning, guided practice and support.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2E21B003-7731-4668-A211-0479C89D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Morning: role boundaries, service workflow and information safety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Afternoon: support tools, access and troubleshooting practice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Finish: scenarios, assessment and supervisor sign-off</a:t>
            </a:r>
          </a:p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15374D75-83E0-4354-9064-4B54A60A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DE137094-7FF5-4BF1-B0A9-271D9DB5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57" name="Google Shape;57;p6">
            <a:extLst xmlns:a="http://schemas.openxmlformats.org/drawingml/2006/main">
              <a:ext uri="{FF2B5EF4-FFF2-40B4-BE49-F238E27FC236}">
                <a16:creationId xmlns:a16="http://schemas.microsoft.com/office/drawing/2014/main" id="{00019264-9ADF-4AB1-8DFD-54A99810B5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d3c5f917b248d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18083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3" name="Google Shape;63;p7">
            <a:extLst xmlns:a="http://schemas.openxmlformats.org/drawingml/2006/main">
              <a:ext uri="{FF2B5EF4-FFF2-40B4-BE49-F238E27FC236}">
                <a16:creationId xmlns:a16="http://schemas.microsoft.com/office/drawing/2014/main" id="{DBD8CBAE-C3BB-43B8-93AA-F91D09D36DED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7">
            <a:extLst xmlns:a="http://schemas.openxmlformats.org/drawingml/2006/main">
              <a:ext uri="{FF2B5EF4-FFF2-40B4-BE49-F238E27FC236}">
                <a16:creationId xmlns:a16="http://schemas.microsoft.com/office/drawing/2014/main" id="{C2E8DB0B-BF10-4B1B-B199-C7E1CA2D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Roles and boundaries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5" name="Google Shape;65;p7">
            <a:extLst xmlns:a="http://schemas.openxmlformats.org/drawingml/2006/main">
              <a:ext uri="{FF2B5EF4-FFF2-40B4-BE49-F238E27FC236}">
                <a16:creationId xmlns:a16="http://schemas.microsoft.com/office/drawing/2014/main" id="{3347FBC0-74EB-4458-BFC5-44062F26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Resolve the issue within your training, access and authority.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6" name="Google Shape;66;p7">
            <a:extLst xmlns:a="http://schemas.openxmlformats.org/drawingml/2006/main">
              <a:ext uri="{FF2B5EF4-FFF2-40B4-BE49-F238E27FC236}">
                <a16:creationId xmlns:a16="http://schemas.microsoft.com/office/drawing/2014/main" id="{EE90F1AB-D9E9-4EF8-AAD7-8378A833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Clarify the issue and its effect on the user’s work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approved procedures and least-privilege access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Do not bypass controls or make unapproved commitments</a:t>
            </a:r>
          </a:p>
        </p:txBody>
      </p:sp>
      <p:sp>
        <p:nvSpPr>
          <p:cNvPr id="67" name="Google Shape;67;p7">
            <a:extLst xmlns:a="http://schemas.openxmlformats.org/drawingml/2006/main">
              <a:ext uri="{FF2B5EF4-FFF2-40B4-BE49-F238E27FC236}">
                <a16:creationId xmlns:a16="http://schemas.microsoft.com/office/drawing/2014/main" id="{80B12499-A067-477B-80D2-A66480DB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68" name="Google Shape;68;p7">
            <a:extLst xmlns:a="http://schemas.openxmlformats.org/drawingml/2006/main">
              <a:ext uri="{FF2B5EF4-FFF2-40B4-BE49-F238E27FC236}">
                <a16:creationId xmlns:a16="http://schemas.microsoft.com/office/drawing/2014/main" id="{18592D3C-017B-4D23-A133-8DA2D473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69" name="Google Shape;69;p7">
            <a:extLst xmlns:a="http://schemas.openxmlformats.org/drawingml/2006/main">
              <a:ext uri="{FF2B5EF4-FFF2-40B4-BE49-F238E27FC236}">
                <a16:creationId xmlns:a16="http://schemas.microsoft.com/office/drawing/2014/main" id="{C1954676-F913-4C0D-B20B-9221E8D192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8d10b6712747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885118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5" name="Google Shape;75;p8">
            <a:extLst xmlns:a="http://schemas.openxmlformats.org/drawingml/2006/main">
              <a:ext uri="{FF2B5EF4-FFF2-40B4-BE49-F238E27FC236}">
                <a16:creationId xmlns:a16="http://schemas.microsoft.com/office/drawing/2014/main" id="{015A3BB7-56FC-4DB1-A0E8-F5EE35B56A3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8">
            <a:extLst xmlns:a="http://schemas.openxmlformats.org/drawingml/2006/main">
              <a:ext uri="{FF2B5EF4-FFF2-40B4-BE49-F238E27FC236}">
                <a16:creationId xmlns:a16="http://schemas.microsoft.com/office/drawing/2014/main" id="{0708B561-51A0-4BA5-B446-58A8CFD1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Support requests and triage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7" name="Google Shape;77;p8">
            <a:extLst xmlns:a="http://schemas.openxmlformats.org/drawingml/2006/main">
              <a:ext uri="{FF2B5EF4-FFF2-40B4-BE49-F238E27FC236}">
                <a16:creationId xmlns:a16="http://schemas.microsoft.com/office/drawing/2014/main" id="{472FE18F-023D-4D71-8825-7249E51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Understand the request, impact and next safe step.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78" name="Google Shape;78;p8">
            <a:extLst xmlns:a="http://schemas.openxmlformats.org/drawingml/2006/main">
              <a:ext uri="{FF2B5EF4-FFF2-40B4-BE49-F238E27FC236}">
                <a16:creationId xmlns:a16="http://schemas.microsoft.com/office/drawing/2014/main" id="{93839D5E-7C76-42F7-BC7B-837451BC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the approved support channel and ticket process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Record the issue, affected service and reported impact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Prioritise using Q’s service criteria, not guesswork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Set expectations with confirmed information</a:t>
            </a:r>
          </a:p>
        </p:txBody>
      </p:sp>
      <p:sp>
        <p:nvSpPr>
          <p:cNvPr id="79" name="Google Shape;79;p8">
            <a:extLst xmlns:a="http://schemas.openxmlformats.org/drawingml/2006/main">
              <a:ext uri="{FF2B5EF4-FFF2-40B4-BE49-F238E27FC236}">
                <a16:creationId xmlns:a16="http://schemas.microsoft.com/office/drawing/2014/main" id="{703ED4B6-E020-4626-8634-C7039687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0" name="Google Shape;80;p8">
            <a:extLst xmlns:a="http://schemas.openxmlformats.org/drawingml/2006/main">
              <a:ext uri="{FF2B5EF4-FFF2-40B4-BE49-F238E27FC236}">
                <a16:creationId xmlns:a16="http://schemas.microsoft.com/office/drawing/2014/main" id="{37286126-C26A-4A6D-8B86-F3E17AD7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81" name="Google Shape;81;p8">
            <a:extLst xmlns:a="http://schemas.openxmlformats.org/drawingml/2006/main">
              <a:ext uri="{FF2B5EF4-FFF2-40B4-BE49-F238E27FC236}">
                <a16:creationId xmlns:a16="http://schemas.microsoft.com/office/drawing/2014/main" id="{71D594EF-F9C2-4E42-AA58-A6C6A35A4A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69ae57f4bd48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96458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7" name="Google Shape;87;p9">
            <a:extLst xmlns:a="http://schemas.openxmlformats.org/drawingml/2006/main">
              <a:ext uri="{FF2B5EF4-FFF2-40B4-BE49-F238E27FC236}">
                <a16:creationId xmlns:a16="http://schemas.microsoft.com/office/drawing/2014/main" id="{AA2C4211-0A4F-439E-BD05-4F959F66BBD3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p9">
            <a:extLst xmlns:a="http://schemas.openxmlformats.org/drawingml/2006/main">
              <a:ext uri="{FF2B5EF4-FFF2-40B4-BE49-F238E27FC236}">
                <a16:creationId xmlns:a16="http://schemas.microsoft.com/office/drawing/2014/main" id="{5807D283-DA14-41D2-AD47-F0B8E9BE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Identity and access checks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89" name="Google Shape;89;p9">
            <a:extLst xmlns:a="http://schemas.openxmlformats.org/drawingml/2006/main">
              <a:ext uri="{FF2B5EF4-FFF2-40B4-BE49-F238E27FC236}">
                <a16:creationId xmlns:a16="http://schemas.microsoft.com/office/drawing/2014/main" id="{F406AA3A-6AAA-4851-8848-38B29045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Verify the requester and authority before changing access.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0" name="Google Shape;90;p9">
            <a:extLst xmlns:a="http://schemas.openxmlformats.org/drawingml/2006/main">
              <a:ext uri="{FF2B5EF4-FFF2-40B4-BE49-F238E27FC236}">
                <a16:creationId xmlns:a16="http://schemas.microsoft.com/office/drawing/2014/main" id="{97B3F973-A919-45DF-B6F4-442CBB27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Follow Q’s identity verification process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Confirm the person is authorised for the requested access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Never ask for passwords or one-time codes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Pause if identity or authority cannot be confirmed</a:t>
            </a:r>
          </a:p>
        </p:txBody>
      </p:sp>
      <p:sp>
        <p:nvSpPr>
          <p:cNvPr id="91" name="Google Shape;91;p9">
            <a:extLst xmlns:a="http://schemas.openxmlformats.org/drawingml/2006/main">
              <a:ext uri="{FF2B5EF4-FFF2-40B4-BE49-F238E27FC236}">
                <a16:creationId xmlns:a16="http://schemas.microsoft.com/office/drawing/2014/main" id="{BF9BBE0A-09A8-4555-B048-3F4673B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92" name="Google Shape;92;p9">
            <a:extLst xmlns:a="http://schemas.openxmlformats.org/drawingml/2006/main">
              <a:ext uri="{FF2B5EF4-FFF2-40B4-BE49-F238E27FC236}">
                <a16:creationId xmlns:a16="http://schemas.microsoft.com/office/drawing/2014/main" id="{F13080D0-0104-4E5C-9DDE-4416BD89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93" name="Google Shape;93;p9">
            <a:extLst xmlns:a="http://schemas.openxmlformats.org/drawingml/2006/main">
              <a:ext uri="{FF2B5EF4-FFF2-40B4-BE49-F238E27FC236}">
                <a16:creationId xmlns:a16="http://schemas.microsoft.com/office/drawing/2014/main" id="{16C22ADE-8256-40B0-99A6-5829942A3F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11d89bcaa894d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382036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9" name="Google Shape;99;p10">
            <a:extLst xmlns:a="http://schemas.openxmlformats.org/drawingml/2006/main">
              <a:ext uri="{FF2B5EF4-FFF2-40B4-BE49-F238E27FC236}">
                <a16:creationId xmlns:a16="http://schemas.microsoft.com/office/drawing/2014/main" id="{301D3EFE-7C01-4269-9399-DC30BF4BC59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10">
            <a:extLst xmlns:a="http://schemas.openxmlformats.org/drawingml/2006/main">
              <a:ext uri="{FF2B5EF4-FFF2-40B4-BE49-F238E27FC236}">
                <a16:creationId xmlns:a16="http://schemas.microsoft.com/office/drawing/2014/main" id="{B40AB0A5-9ED9-4738-808A-6B4E13C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Data protection in support work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1" name="Google Shape;101;p10">
            <a:extLst xmlns:a="http://schemas.openxmlformats.org/drawingml/2006/main">
              <a:ext uri="{FF2B5EF4-FFF2-40B4-BE49-F238E27FC236}">
                <a16:creationId xmlns:a16="http://schemas.microsoft.com/office/drawing/2014/main" id="{AFC6EA5E-0451-4C6B-98F1-0BDCB2DD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Handle personal and sensitive information with care.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2" name="Google Shape;102;p10">
            <a:extLst xmlns:a="http://schemas.openxmlformats.org/drawingml/2006/main">
              <a:ext uri="{FF2B5EF4-FFF2-40B4-BE49-F238E27FC236}">
                <a16:creationId xmlns:a16="http://schemas.microsoft.com/office/drawing/2014/main" id="{78CCA798-D69F-4923-9AC6-C72452C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Access only information needed for the ticket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Keep records factual, relevant and respectful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approved systems and storage locations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Route privacy or rights requests to the designated contact</a:t>
            </a:r>
          </a:p>
        </p:txBody>
      </p:sp>
      <p:sp>
        <p:nvSpPr>
          <p:cNvPr id="103" name="Google Shape;103;p10">
            <a:extLst xmlns:a="http://schemas.openxmlformats.org/drawingml/2006/main">
              <a:ext uri="{FF2B5EF4-FFF2-40B4-BE49-F238E27FC236}">
                <a16:creationId xmlns:a16="http://schemas.microsoft.com/office/drawing/2014/main" id="{E1C66EBC-F1C7-43D9-900C-E842DA8B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04" name="Google Shape;104;p10">
            <a:extLst xmlns:a="http://schemas.openxmlformats.org/drawingml/2006/main">
              <a:ext uri="{FF2B5EF4-FFF2-40B4-BE49-F238E27FC236}">
                <a16:creationId xmlns:a16="http://schemas.microsoft.com/office/drawing/2014/main" id="{5DF53ADC-0A8E-4AB8-9BCA-B18FA222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05" name="Google Shape;105;p10">
            <a:extLst xmlns:a="http://schemas.openxmlformats.org/drawingml/2006/main">
              <a:ext uri="{FF2B5EF4-FFF2-40B4-BE49-F238E27FC236}">
                <a16:creationId xmlns:a16="http://schemas.microsoft.com/office/drawing/2014/main" id="{99B9887B-437A-472E-AB88-D13EC4E5B3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332ac11744040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59293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1" name="Google Shape;111;p11">
            <a:extLst xmlns:a="http://schemas.openxmlformats.org/drawingml/2006/main">
              <a:ext uri="{FF2B5EF4-FFF2-40B4-BE49-F238E27FC236}">
                <a16:creationId xmlns:a16="http://schemas.microsoft.com/office/drawing/2014/main" id="{06DB6D87-CB12-444C-84C3-F941F2651F17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Google Shape;112;p11">
            <a:extLst xmlns:a="http://schemas.openxmlformats.org/drawingml/2006/main">
              <a:ext uri="{FF2B5EF4-FFF2-40B4-BE49-F238E27FC236}">
                <a16:creationId xmlns:a16="http://schemas.microsoft.com/office/drawing/2014/main" id="{BB52F5D2-3DEF-43B6-8E41-4027E26D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Account and device security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3" name="Google Shape;113;p11">
            <a:extLst xmlns:a="http://schemas.openxmlformats.org/drawingml/2006/main">
              <a:ext uri="{FF2B5EF4-FFF2-40B4-BE49-F238E27FC236}">
                <a16:creationId xmlns:a16="http://schemas.microsoft.com/office/drawing/2014/main" id="{4FE7294D-B6F3-4F56-B3A3-0BFA9AA8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Protect the credentials and equipment used to support Q.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4" name="Google Shape;114;p11">
            <a:extLst xmlns:a="http://schemas.openxmlformats.org/drawingml/2006/main">
              <a:ext uri="{FF2B5EF4-FFF2-40B4-BE49-F238E27FC236}">
                <a16:creationId xmlns:a16="http://schemas.microsoft.com/office/drawing/2014/main" id="{373BF450-BFCB-47B1-865F-AAF7AA97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your individual account and required security checks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Lock devices when away and keep them under your control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approved password and authentication processes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Report lost devices or suspicious access promptly</a:t>
            </a:r>
          </a:p>
        </p:txBody>
      </p:sp>
      <p:sp>
        <p:nvSpPr>
          <p:cNvPr id="115" name="Google Shape;115;p11">
            <a:extLst xmlns:a="http://schemas.openxmlformats.org/drawingml/2006/main">
              <a:ext uri="{FF2B5EF4-FFF2-40B4-BE49-F238E27FC236}">
                <a16:creationId xmlns:a16="http://schemas.microsoft.com/office/drawing/2014/main" id="{E0B51D5F-67B8-4729-85D2-5D79B6F1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16" name="Google Shape;116;p11">
            <a:extLst xmlns:a="http://schemas.openxmlformats.org/drawingml/2006/main">
              <a:ext uri="{FF2B5EF4-FFF2-40B4-BE49-F238E27FC236}">
                <a16:creationId xmlns:a16="http://schemas.microsoft.com/office/drawing/2014/main" id="{F3B4E15B-8D04-4181-9CEC-6632E21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17" name="Google Shape;117;p11">
            <a:extLst xmlns:a="http://schemas.openxmlformats.org/drawingml/2006/main">
              <a:ext uri="{FF2B5EF4-FFF2-40B4-BE49-F238E27FC236}">
                <a16:creationId xmlns:a16="http://schemas.microsoft.com/office/drawing/2014/main" id="{B0249007-56BE-4E4D-B6EE-CD4E68E94E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06f2e7fb57480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52049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3" name="Google Shape;123;p12">
            <a:extLst xmlns:a="http://schemas.openxmlformats.org/drawingml/2006/main">
              <a:ext uri="{FF2B5EF4-FFF2-40B4-BE49-F238E27FC236}">
                <a16:creationId xmlns:a16="http://schemas.microsoft.com/office/drawing/2014/main" id="{2ADBF28C-7277-470A-BEAF-75E06A478833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4" name="Google Shape;124;p12">
            <a:extLst xmlns:a="http://schemas.openxmlformats.org/drawingml/2006/main">
              <a:ext uri="{FF2B5EF4-FFF2-40B4-BE49-F238E27FC236}">
                <a16:creationId xmlns:a16="http://schemas.microsoft.com/office/drawing/2014/main" id="{FEF98001-283A-436B-94F0-26390B6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Suspicious messages and cyber concerns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5" name="Google Shape;125;p12">
            <a:extLst xmlns:a="http://schemas.openxmlformats.org/drawingml/2006/main">
              <a:ext uri="{FF2B5EF4-FFF2-40B4-BE49-F238E27FC236}">
                <a16:creationId xmlns:a16="http://schemas.microsoft.com/office/drawing/2014/main" id="{6E468CDF-917C-4DE5-98AC-B9024BCA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Pause and report before interacting with a suspicious message.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6" name="Google Shape;126;p12">
            <a:extLst xmlns:a="http://schemas.openxmlformats.org/drawingml/2006/main">
              <a:ext uri="{FF2B5EF4-FFF2-40B4-BE49-F238E27FC236}">
                <a16:creationId xmlns:a16="http://schemas.microsoft.com/office/drawing/2014/main" id="{C4505444-F0C7-40F1-AD11-AF48AF8C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Check unexpected requests, links, attachments and senders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Do not enter credentials through an unverified link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Q’s reporting process for suspicious messages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Escalate suspected account compromise promptly</a:t>
            </a:r>
          </a:p>
        </p:txBody>
      </p:sp>
      <p:sp>
        <p:nvSpPr>
          <p:cNvPr id="127" name="Google Shape;127;p12">
            <a:extLst xmlns:a="http://schemas.openxmlformats.org/drawingml/2006/main">
              <a:ext uri="{FF2B5EF4-FFF2-40B4-BE49-F238E27FC236}">
                <a16:creationId xmlns:a16="http://schemas.microsoft.com/office/drawing/2014/main" id="{CCE26D17-E053-40A1-8C7E-B28B869D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8" name="Google Shape;128;p12">
            <a:extLst xmlns:a="http://schemas.openxmlformats.org/drawingml/2006/main">
              <a:ext uri="{FF2B5EF4-FFF2-40B4-BE49-F238E27FC236}">
                <a16:creationId xmlns:a16="http://schemas.microsoft.com/office/drawing/2014/main" id="{69590FF4-6382-4D4D-B03F-9BF83913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29" name="Google Shape;129;p12">
            <a:extLst xmlns:a="http://schemas.openxmlformats.org/drawingml/2006/main">
              <a:ext uri="{FF2B5EF4-FFF2-40B4-BE49-F238E27FC236}">
                <a16:creationId xmlns:a16="http://schemas.microsoft.com/office/drawing/2014/main" id="{301D2DFF-A802-4113-A5ED-8D824B86F4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e58b40a9354cb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00661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5" name="Google Shape;135;p13">
            <a:extLst xmlns:a="http://schemas.openxmlformats.org/drawingml/2006/main">
              <a:ext uri="{FF2B5EF4-FFF2-40B4-BE49-F238E27FC236}">
                <a16:creationId xmlns:a16="http://schemas.microsoft.com/office/drawing/2014/main" id="{8D3C8180-F9FA-404D-ADF2-30A253CAE813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13">
            <a:extLst xmlns:a="http://schemas.openxmlformats.org/drawingml/2006/main">
              <a:ext uri="{FF2B5EF4-FFF2-40B4-BE49-F238E27FC236}">
                <a16:creationId xmlns:a16="http://schemas.microsoft.com/office/drawing/2014/main" id="{7BC61D08-7A4D-4387-B949-DF3D0BD8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Support tools, tickets and handovers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7" name="Google Shape;137;p13">
            <a:extLst xmlns:a="http://schemas.openxmlformats.org/drawingml/2006/main">
              <a:ext uri="{FF2B5EF4-FFF2-40B4-BE49-F238E27FC236}">
                <a16:creationId xmlns:a16="http://schemas.microsoft.com/office/drawing/2014/main" id="{C5180E71-D4D9-45CB-8EEC-3135B970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Use approved systems and leave a record the next technician can follow.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8" name="Google Shape;138;p13">
            <a:extLst xmlns:a="http://schemas.openxmlformats.org/drawingml/2006/main">
              <a:ext uri="{FF2B5EF4-FFF2-40B4-BE49-F238E27FC236}">
                <a16:creationId xmlns:a16="http://schemas.microsoft.com/office/drawing/2014/main" id="{49C7850D-C271-45F0-9A6D-5469ADA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Sign in with your own account and role permissions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the approved service desk and knowledge resources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Record checks, actions, status and next owner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Keep work data in approved tools and storage</a:t>
            </a:r>
          </a:p>
        </p:txBody>
      </p:sp>
      <p:sp>
        <p:nvSpPr>
          <p:cNvPr id="139" name="Google Shape;139;p13">
            <a:extLst xmlns:a="http://schemas.openxmlformats.org/drawingml/2006/main">
              <a:ext uri="{FF2B5EF4-FFF2-40B4-BE49-F238E27FC236}">
                <a16:creationId xmlns:a16="http://schemas.microsoft.com/office/drawing/2014/main" id="{727A2086-B4BB-4117-B317-EDCD31FB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0" name="Google Shape;140;p13">
            <a:extLst xmlns:a="http://schemas.openxmlformats.org/drawingml/2006/main">
              <a:ext uri="{FF2B5EF4-FFF2-40B4-BE49-F238E27FC236}">
                <a16:creationId xmlns:a16="http://schemas.microsoft.com/office/drawing/2014/main" id="{7B641BF9-D7EA-45A0-8C74-37626AF1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41" name="Google Shape;141;p13">
            <a:extLst xmlns:a="http://schemas.openxmlformats.org/drawingml/2006/main">
              <a:ext uri="{FF2B5EF4-FFF2-40B4-BE49-F238E27FC236}">
                <a16:creationId xmlns:a16="http://schemas.microsoft.com/office/drawing/2014/main" id="{85780DD4-F3AC-4B81-BD93-60D43A339D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70b0441e43c4d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43301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7" name="Google Shape;147;p14">
            <a:extLst xmlns:a="http://schemas.openxmlformats.org/drawingml/2006/main">
              <a:ext uri="{FF2B5EF4-FFF2-40B4-BE49-F238E27FC236}">
                <a16:creationId xmlns:a16="http://schemas.microsoft.com/office/drawing/2014/main" id="{D19B6F83-D532-465B-806F-5C65733B67BC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4">
            <a:extLst xmlns:a="http://schemas.openxmlformats.org/drawingml/2006/main">
              <a:ext uri="{FF2B5EF4-FFF2-40B4-BE49-F238E27FC236}">
                <a16:creationId xmlns:a16="http://schemas.microsoft.com/office/drawing/2014/main" id="{7471060F-DD71-49B0-8820-9B9520F8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Safe troubleshooting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9" name="Google Shape;149;p14">
            <a:extLst xmlns:a="http://schemas.openxmlformats.org/drawingml/2006/main">
              <a:ext uri="{FF2B5EF4-FFF2-40B4-BE49-F238E27FC236}">
                <a16:creationId xmlns:a16="http://schemas.microsoft.com/office/drawing/2014/main" id="{EEFAC795-CA85-46B8-A1B4-8C144864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Use a clear process and avoid unnecessary or risky changes.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0" name="Google Shape;150;p14">
            <a:extLst xmlns:a="http://schemas.openxmlformats.org/drawingml/2006/main">
              <a:ext uri="{FF2B5EF4-FFF2-40B4-BE49-F238E27FC236}">
                <a16:creationId xmlns:a16="http://schemas.microsoft.com/office/drawing/2014/main" id="{426C4ACA-D79D-49C1-A5C2-2BEC300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Clarify symptoms, timing and recent changes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Check approved knowledge before trying a fix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Prefer reversible steps within your authority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Explain the action and confirm the result with the user</a:t>
            </a:r>
          </a:p>
        </p:txBody>
      </p:sp>
      <p:sp>
        <p:nvSpPr>
          <p:cNvPr id="151" name="Google Shape;151;p14">
            <a:extLst xmlns:a="http://schemas.openxmlformats.org/drawingml/2006/main">
              <a:ext uri="{FF2B5EF4-FFF2-40B4-BE49-F238E27FC236}">
                <a16:creationId xmlns:a16="http://schemas.microsoft.com/office/drawing/2014/main" id="{26DCA0A9-B89E-436F-BE73-9B8D817B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2" name="Google Shape;152;p14">
            <a:extLst xmlns:a="http://schemas.openxmlformats.org/drawingml/2006/main">
              <a:ext uri="{FF2B5EF4-FFF2-40B4-BE49-F238E27FC236}">
                <a16:creationId xmlns:a16="http://schemas.microsoft.com/office/drawing/2014/main" id="{B678FB59-6A6B-4996-9B96-A97D146E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53" name="Google Shape;153;p14">
            <a:extLst xmlns:a="http://schemas.openxmlformats.org/drawingml/2006/main">
              <a:ext uri="{FF2B5EF4-FFF2-40B4-BE49-F238E27FC236}">
                <a16:creationId xmlns:a16="http://schemas.microsoft.com/office/drawing/2014/main" id="{8E6D9500-15C3-4DEF-B709-E6737CCF11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db7aec8b324f4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4" name="Google Shape;154;p14">
            <a:extLst xmlns:a="http://schemas.openxmlformats.org/drawingml/2006/main">
              <a:ext uri="{FF2B5EF4-FFF2-40B4-BE49-F238E27FC236}">
                <a16:creationId xmlns:a16="http://schemas.microsoft.com/office/drawing/2014/main" id="{F8BBC4BC-D2A6-4644-A1A5-4C1E463411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3e1421bdbc47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5" name="Google Shape;155;p14">
            <a:hlinkClick xmlns:r="http://schemas.openxmlformats.org/officeDocument/2006/relationships" xmlns:a="http://schemas.openxmlformats.org/drawingml/2006/main" r:id="Reb9ba7e6b4924309"/>
            <a:extLst xmlns:a="http://schemas.openxmlformats.org/drawingml/2006/main">
              <a:ext uri="{FF2B5EF4-FFF2-40B4-BE49-F238E27FC236}">
                <a16:creationId xmlns:a16="http://schemas.microsoft.com/office/drawing/2014/main" id="{E4359F24-21DB-4C12-BD47-4FB38B33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5772" y="6523921"/>
            <a:ext cx="1347448" cy="213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9755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1" name="Google Shape;161;p15">
            <a:extLst xmlns:a="http://schemas.openxmlformats.org/drawingml/2006/main">
              <a:ext uri="{FF2B5EF4-FFF2-40B4-BE49-F238E27FC236}">
                <a16:creationId xmlns:a16="http://schemas.microsoft.com/office/drawing/2014/main" id="{271718B8-427D-4F9B-A402-E47A76F20F4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15">
            <a:extLst xmlns:a="http://schemas.openxmlformats.org/drawingml/2006/main">
              <a:ext uri="{FF2B5EF4-FFF2-40B4-BE49-F238E27FC236}">
                <a16:creationId xmlns:a16="http://schemas.microsoft.com/office/drawing/2014/main" id="{790EA7AE-DB36-4FD0-981E-9BD1EB66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Devices and equipment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3" name="Google Shape;163;p15">
            <a:extLst xmlns:a="http://schemas.openxmlformats.org/drawingml/2006/main">
              <a:ext uri="{FF2B5EF4-FFF2-40B4-BE49-F238E27FC236}">
                <a16:creationId xmlns:a16="http://schemas.microsoft.com/office/drawing/2014/main" id="{6DA4FBFF-C304-4CD0-80ED-A9708C77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Handle Q equipment securely and keep ownership traceable.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4" name="Google Shape;164;p15">
            <a:extLst xmlns:a="http://schemas.openxmlformats.org/drawingml/2006/main">
              <a:ext uri="{FF2B5EF4-FFF2-40B4-BE49-F238E27FC236}">
                <a16:creationId xmlns:a16="http://schemas.microsoft.com/office/drawing/2014/main" id="{D6375742-2A67-4CAD-9549-AF83D5FB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Follow the asset issue, return and inventory process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Verify the recipient before handing over equipment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approved setup and disposal procedures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Report damage, loss or unexpected device behaviour</a:t>
            </a:r>
          </a:p>
        </p:txBody>
      </p:sp>
      <p:sp>
        <p:nvSpPr>
          <p:cNvPr id="165" name="Google Shape;165;p15">
            <a:extLst xmlns:a="http://schemas.openxmlformats.org/drawingml/2006/main">
              <a:ext uri="{FF2B5EF4-FFF2-40B4-BE49-F238E27FC236}">
                <a16:creationId xmlns:a16="http://schemas.microsoft.com/office/drawing/2014/main" id="{38BEC445-B6AB-49D5-9508-AC6BB146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66" name="Google Shape;166;p15">
            <a:extLst xmlns:a="http://schemas.openxmlformats.org/drawingml/2006/main">
              <a:ext uri="{FF2B5EF4-FFF2-40B4-BE49-F238E27FC236}">
                <a16:creationId xmlns:a16="http://schemas.microsoft.com/office/drawing/2014/main" id="{176890DF-0ED7-48F4-9173-533AA4CA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67" name="Google Shape;167;p15">
            <a:extLst xmlns:a="http://schemas.openxmlformats.org/drawingml/2006/main">
              <a:ext uri="{FF2B5EF4-FFF2-40B4-BE49-F238E27FC236}">
                <a16:creationId xmlns:a16="http://schemas.microsoft.com/office/drawing/2014/main" id="{1C040DFC-6894-46F9-AC64-57943713D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a4af15f5724e8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20198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3" name="Google Shape;173;p16">
            <a:extLst xmlns:a="http://schemas.openxmlformats.org/drawingml/2006/main">
              <a:ext uri="{FF2B5EF4-FFF2-40B4-BE49-F238E27FC236}">
                <a16:creationId xmlns:a16="http://schemas.microsoft.com/office/drawing/2014/main" id="{59BB431C-6D18-48C3-AB02-9A4AE1FBC5C3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" name="Google Shape;174;p16">
            <a:extLst xmlns:a="http://schemas.openxmlformats.org/drawingml/2006/main">
              <a:ext uri="{FF2B5EF4-FFF2-40B4-BE49-F238E27FC236}">
                <a16:creationId xmlns:a16="http://schemas.microsoft.com/office/drawing/2014/main" id="{90EA6214-0732-43E7-83A4-1B025532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Accounts, permissions and changes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5" name="Google Shape;175;p16">
            <a:extLst xmlns:a="http://schemas.openxmlformats.org/drawingml/2006/main">
              <a:ext uri="{FF2B5EF4-FFF2-40B4-BE49-F238E27FC236}">
                <a16:creationId xmlns:a16="http://schemas.microsoft.com/office/drawing/2014/main" id="{9BEDDB17-5B0E-4C14-B692-10B6C2A4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Make approved changes that are limited, traceable and recoverable.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6" name="Google Shape;176;p16">
            <a:extLst xmlns:a="http://schemas.openxmlformats.org/drawingml/2006/main">
              <a:ext uri="{FF2B5EF4-FFF2-40B4-BE49-F238E27FC236}">
                <a16:creationId xmlns:a16="http://schemas.microsoft.com/office/drawing/2014/main" id="{6B377760-B172-4A2B-9E5F-23AE28F1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Confirm approval and role before changing permissions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least-privilege access and approved groups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authorised software and change processes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Record approvals, tests and recovery steps</a:t>
            </a:r>
          </a:p>
        </p:txBody>
      </p:sp>
      <p:sp>
        <p:nvSpPr>
          <p:cNvPr id="177" name="Google Shape;177;p16">
            <a:extLst xmlns:a="http://schemas.openxmlformats.org/drawingml/2006/main">
              <a:ext uri="{FF2B5EF4-FFF2-40B4-BE49-F238E27FC236}">
                <a16:creationId xmlns:a16="http://schemas.microsoft.com/office/drawing/2014/main" id="{03438914-C413-4282-85A7-9FDBCF73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78" name="Google Shape;178;p16">
            <a:extLst xmlns:a="http://schemas.openxmlformats.org/drawingml/2006/main">
              <a:ext uri="{FF2B5EF4-FFF2-40B4-BE49-F238E27FC236}">
                <a16:creationId xmlns:a16="http://schemas.microsoft.com/office/drawing/2014/main" id="{D6E5A90E-4C97-4C60-B102-5E36C15A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79" name="Google Shape;179;p16">
            <a:extLst xmlns:a="http://schemas.openxmlformats.org/drawingml/2006/main">
              <a:ext uri="{FF2B5EF4-FFF2-40B4-BE49-F238E27FC236}">
                <a16:creationId xmlns:a16="http://schemas.microsoft.com/office/drawing/2014/main" id="{17BD50C8-DF5B-4EC6-94E8-463BF07D53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6e1f52b91a40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223630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5" name="Google Shape;185;p17">
            <a:extLst xmlns:a="http://schemas.openxmlformats.org/drawingml/2006/main">
              <a:ext uri="{FF2B5EF4-FFF2-40B4-BE49-F238E27FC236}">
                <a16:creationId xmlns:a16="http://schemas.microsoft.com/office/drawing/2014/main" id="{C440770B-619B-485A-A45A-2673D12D0AF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17">
            <a:extLst xmlns:a="http://schemas.openxmlformats.org/drawingml/2006/main">
              <a:ext uri="{FF2B5EF4-FFF2-40B4-BE49-F238E27FC236}">
                <a16:creationId xmlns:a16="http://schemas.microsoft.com/office/drawing/2014/main" id="{B7454F94-AEC8-4AB4-86F6-AB08AF80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Incidents and service disruption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7" name="Google Shape;187;p17">
            <a:extLst xmlns:a="http://schemas.openxmlformats.org/drawingml/2006/main">
              <a:ext uri="{FF2B5EF4-FFF2-40B4-BE49-F238E27FC236}">
                <a16:creationId xmlns:a16="http://schemas.microsoft.com/office/drawing/2014/main" id="{31BA3625-799D-40B7-86AF-E46D9AA8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Protect users and services while the incident is assessed.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88" name="Google Shape;188;p17">
            <a:extLst xmlns:a="http://schemas.openxmlformats.org/drawingml/2006/main">
              <a:ext uri="{FF2B5EF4-FFF2-40B4-BE49-F238E27FC236}">
                <a16:creationId xmlns:a16="http://schemas.microsoft.com/office/drawing/2014/main" id="{65191499-DCC0-49DD-B2FD-2D04648E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Recognise unusual access, malware signs or widespread failure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the incident route promptly; do not investigate beyond role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Preserve relevant facts and follow evidence-handling guidance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Give updates only through the authorised process</a:t>
            </a:r>
          </a:p>
        </p:txBody>
      </p:sp>
      <p:sp>
        <p:nvSpPr>
          <p:cNvPr id="189" name="Google Shape;189;p17">
            <a:extLst xmlns:a="http://schemas.openxmlformats.org/drawingml/2006/main">
              <a:ext uri="{FF2B5EF4-FFF2-40B4-BE49-F238E27FC236}">
                <a16:creationId xmlns:a16="http://schemas.microsoft.com/office/drawing/2014/main" id="{620BFEE3-6B74-4193-A2D6-FC8C8916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0" name="Google Shape;190;p17">
            <a:extLst xmlns:a="http://schemas.openxmlformats.org/drawingml/2006/main">
              <a:ext uri="{FF2B5EF4-FFF2-40B4-BE49-F238E27FC236}">
                <a16:creationId xmlns:a16="http://schemas.microsoft.com/office/drawing/2014/main" id="{0B491C3D-727E-4A2F-9801-4217BCCE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91" name="Google Shape;191;p17">
            <a:extLst xmlns:a="http://schemas.openxmlformats.org/drawingml/2006/main">
              <a:ext uri="{FF2B5EF4-FFF2-40B4-BE49-F238E27FC236}">
                <a16:creationId xmlns:a16="http://schemas.microsoft.com/office/drawing/2014/main" id="{9038194E-ADDE-48E9-BFAC-4645864309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b8f97fbbbd4a2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146335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7" name="Google Shape;197;p18">
            <a:extLst xmlns:a="http://schemas.openxmlformats.org/drawingml/2006/main">
              <a:ext uri="{FF2B5EF4-FFF2-40B4-BE49-F238E27FC236}">
                <a16:creationId xmlns:a16="http://schemas.microsoft.com/office/drawing/2014/main" id="{267C427C-62DB-4B92-A16B-4B404331F2C0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8" name="Google Shape;198;p18">
            <a:extLst xmlns:a="http://schemas.openxmlformats.org/drawingml/2006/main">
              <a:ext uri="{FF2B5EF4-FFF2-40B4-BE49-F238E27FC236}">
                <a16:creationId xmlns:a16="http://schemas.microsoft.com/office/drawing/2014/main" id="{2B5AD097-A293-4BE8-9045-DC144394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Remote support and user privacy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99" name="Google Shape;199;p18">
            <a:extLst xmlns:a="http://schemas.openxmlformats.org/drawingml/2006/main">
              <a:ext uri="{FF2B5EF4-FFF2-40B4-BE49-F238E27FC236}">
                <a16:creationId xmlns:a16="http://schemas.microsoft.com/office/drawing/2014/main" id="{E208835C-49EF-47AB-879B-AF24044D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Make remote assistance clear, authorised and limited to the task.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0" name="Google Shape;200;p18">
            <a:extLst xmlns:a="http://schemas.openxmlformats.org/drawingml/2006/main">
              <a:ext uri="{FF2B5EF4-FFF2-40B4-BE49-F238E27FC236}">
                <a16:creationId xmlns:a16="http://schemas.microsoft.com/office/drawing/2014/main" id="{9F0C0E6A-6530-4A82-9A6F-6318205C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Use only approved remote support tools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Explain the session and obtain required user agreement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View only what is needed to troubleshoot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End access when the task is complete and record the outcome</a:t>
            </a:r>
          </a:p>
        </p:txBody>
      </p:sp>
      <p:sp>
        <p:nvSpPr>
          <p:cNvPr id="201" name="Google Shape;201;p18">
            <a:extLst xmlns:a="http://schemas.openxmlformats.org/drawingml/2006/main">
              <a:ext uri="{FF2B5EF4-FFF2-40B4-BE49-F238E27FC236}">
                <a16:creationId xmlns:a16="http://schemas.microsoft.com/office/drawing/2014/main" id="{AD47C77E-A7E9-4D1C-BA18-39D4B496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02" name="Google Shape;202;p18">
            <a:extLst xmlns:a="http://schemas.openxmlformats.org/drawingml/2006/main">
              <a:ext uri="{FF2B5EF4-FFF2-40B4-BE49-F238E27FC236}">
                <a16:creationId xmlns:a16="http://schemas.microsoft.com/office/drawing/2014/main" id="{2C9A97F2-EEEA-42F9-AE50-D315EBF8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03" name="Google Shape;203;p18">
            <a:extLst xmlns:a="http://schemas.openxmlformats.org/drawingml/2006/main">
              <a:ext uri="{FF2B5EF4-FFF2-40B4-BE49-F238E27FC236}">
                <a16:creationId xmlns:a16="http://schemas.microsoft.com/office/drawing/2014/main" id="{518D8905-18CF-4F0D-8733-D848F1ED8C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1ad04c95d9b47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9790117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9" name="Google Shape;209;p19">
            <a:extLst xmlns:a="http://schemas.openxmlformats.org/drawingml/2006/main">
              <a:ext uri="{FF2B5EF4-FFF2-40B4-BE49-F238E27FC236}">
                <a16:creationId xmlns:a16="http://schemas.microsoft.com/office/drawing/2014/main" id="{392971EF-5591-4D71-81ED-7FEDEC6025C1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p19">
            <a:extLst xmlns:a="http://schemas.openxmlformats.org/drawingml/2006/main">
              <a:ext uri="{FF2B5EF4-FFF2-40B4-BE49-F238E27FC236}">
                <a16:creationId xmlns:a16="http://schemas.microsoft.com/office/drawing/2014/main" id="{B6BB4A3B-C2BF-4AEB-AEF9-0FB44A1D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Clear support communication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1" name="Google Shape;211;p19">
            <a:extLst xmlns:a="http://schemas.openxmlformats.org/drawingml/2006/main">
              <a:ext uri="{FF2B5EF4-FFF2-40B4-BE49-F238E27FC236}">
                <a16:creationId xmlns:a16="http://schemas.microsoft.com/office/drawing/2014/main" id="{44724232-ABF3-496D-95B4-8D698A6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Help the requester understand what is happening and what comes next.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2" name="Google Shape;212;p19">
            <a:extLst xmlns:a="http://schemas.openxmlformats.org/drawingml/2006/main">
              <a:ext uri="{FF2B5EF4-FFF2-40B4-BE49-F238E27FC236}">
                <a16:creationId xmlns:a16="http://schemas.microsoft.com/office/drawing/2014/main" id="{67A7D736-741E-4520-9864-48392FE4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Acknowledge the issue and confirm your understanding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Use plain language and avoid unnecessary jargon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Share confirmed updates and realistic next steps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Do not invent deadlines or guarantee a fix</a:t>
            </a:r>
          </a:p>
        </p:txBody>
      </p:sp>
      <p:sp>
        <p:nvSpPr>
          <p:cNvPr id="213" name="Google Shape;213;p19">
            <a:extLst xmlns:a="http://schemas.openxmlformats.org/drawingml/2006/main">
              <a:ext uri="{FF2B5EF4-FFF2-40B4-BE49-F238E27FC236}">
                <a16:creationId xmlns:a16="http://schemas.microsoft.com/office/drawing/2014/main" id="{8ADA87B3-79FE-43BA-9979-89BEAE39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14" name="Google Shape;214;p19">
            <a:extLst xmlns:a="http://schemas.openxmlformats.org/drawingml/2006/main">
              <a:ext uri="{FF2B5EF4-FFF2-40B4-BE49-F238E27FC236}">
                <a16:creationId xmlns:a16="http://schemas.microsoft.com/office/drawing/2014/main" id="{51B8BBF2-5D5D-40C9-8128-D71FD5F4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15" name="Google Shape;215;p19">
            <a:extLst xmlns:a="http://schemas.openxmlformats.org/drawingml/2006/main">
              <a:ext uri="{FF2B5EF4-FFF2-40B4-BE49-F238E27FC236}">
                <a16:creationId xmlns:a16="http://schemas.microsoft.com/office/drawing/2014/main" id="{8B8F7CC5-049D-4C47-BA8B-22927AA473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5603c94ed1447a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843679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1" name="Google Shape;221;p20">
            <a:extLst xmlns:a="http://schemas.openxmlformats.org/drawingml/2006/main">
              <a:ext uri="{FF2B5EF4-FFF2-40B4-BE49-F238E27FC236}">
                <a16:creationId xmlns:a16="http://schemas.microsoft.com/office/drawing/2014/main" id="{971CBB4F-8389-4555-B3AD-44926C06F5C4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20">
            <a:extLst xmlns:a="http://schemas.openxmlformats.org/drawingml/2006/main">
              <a:ext uri="{FF2B5EF4-FFF2-40B4-BE49-F238E27FC236}">
                <a16:creationId xmlns:a16="http://schemas.microsoft.com/office/drawing/2014/main" id="{77F6E7EA-65A8-4705-81A5-584BE8E0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Escalation and resolution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3" name="Google Shape;223;p20">
            <a:extLst xmlns:a="http://schemas.openxmlformats.org/drawingml/2006/main">
              <a:ext uri="{FF2B5EF4-FFF2-40B4-BE49-F238E27FC236}">
                <a16:creationId xmlns:a16="http://schemas.microsoft.com/office/drawing/2014/main" id="{EF2C34C3-2488-4CDD-9610-7EEA5F92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Route complex or risky work to the right person and close it clearly.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4" name="Google Shape;224;p20">
            <a:extLst xmlns:a="http://schemas.openxmlformats.org/drawingml/2006/main">
              <a:ext uri="{FF2B5EF4-FFF2-40B4-BE49-F238E27FC236}">
                <a16:creationId xmlns:a16="http://schemas.microsoft.com/office/drawing/2014/main" id="{595D3EB1-BB8F-4B5C-8749-CC41D62F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Escalate when risk, scope or authority requires it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Include relevant evidence and actions already taken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Keep ownership clear during the hand-off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Confirm outcome and closure criteria before resolving</a:t>
            </a:r>
          </a:p>
        </p:txBody>
      </p:sp>
      <p:sp>
        <p:nvSpPr>
          <p:cNvPr id="225" name="Google Shape;225;p20">
            <a:extLst xmlns:a="http://schemas.openxmlformats.org/drawingml/2006/main">
              <a:ext uri="{FF2B5EF4-FFF2-40B4-BE49-F238E27FC236}">
                <a16:creationId xmlns:a16="http://schemas.microsoft.com/office/drawing/2014/main" id="{27A64F0F-ACAD-4551-85F9-30A3E4C4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26" name="Google Shape;226;p20">
            <a:extLst xmlns:a="http://schemas.openxmlformats.org/drawingml/2006/main">
              <a:ext uri="{FF2B5EF4-FFF2-40B4-BE49-F238E27FC236}">
                <a16:creationId xmlns:a16="http://schemas.microsoft.com/office/drawing/2014/main" id="{CC2D9819-CA98-4558-80C5-D89B73E2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27" name="Google Shape;227;p20">
            <a:extLst xmlns:a="http://schemas.openxmlformats.org/drawingml/2006/main">
              <a:ext uri="{FF2B5EF4-FFF2-40B4-BE49-F238E27FC236}">
                <a16:creationId xmlns:a16="http://schemas.microsoft.com/office/drawing/2014/main" id="{492D8AD4-485A-4A77-9586-FD24377C17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31361f2ee3f441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8838531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3" name="Google Shape;233;p21">
            <a:extLst xmlns:a="http://schemas.openxmlformats.org/drawingml/2006/main">
              <a:ext uri="{FF2B5EF4-FFF2-40B4-BE49-F238E27FC236}">
                <a16:creationId xmlns:a16="http://schemas.microsoft.com/office/drawing/2014/main" id="{96620E60-C6C9-42C2-AB4A-CEF6C5D9EB3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4" name="Google Shape;234;p21">
            <a:extLst xmlns:a="http://schemas.openxmlformats.org/drawingml/2006/main">
              <a:ext uri="{FF2B5EF4-FFF2-40B4-BE49-F238E27FC236}">
                <a16:creationId xmlns:a16="http://schemas.microsoft.com/office/drawing/2014/main" id="{4C64FA62-B0B1-4741-9368-FB705083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Integrated support simulation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5" name="Google Shape;235;p21">
            <a:extLst xmlns:a="http://schemas.openxmlformats.org/drawingml/2006/main">
              <a:ext uri="{FF2B5EF4-FFF2-40B4-BE49-F238E27FC236}">
                <a16:creationId xmlns:a16="http://schemas.microsoft.com/office/drawing/2014/main" id="{F761CE3D-F973-4DDD-86B9-53FD3699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Practise the full support workflow using fictional details.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6" name="Google Shape;236;p21">
            <a:extLst xmlns:a="http://schemas.openxmlformats.org/drawingml/2006/main">
              <a:ext uri="{FF2B5EF4-FFF2-40B4-BE49-F238E27FC236}">
                <a16:creationId xmlns:a16="http://schemas.microsoft.com/office/drawing/2014/main" id="{CDC8C755-F351-438D-9B4F-4211EA0E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Receive and clarify a support request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Verify identity and authority before access changes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Troubleshoot within approved procedures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Record, communicate and escalate as needed</a:t>
            </a:r>
          </a:p>
        </p:txBody>
      </p:sp>
      <p:sp>
        <p:nvSpPr>
          <p:cNvPr id="237" name="Google Shape;237;p21">
            <a:extLst xmlns:a="http://schemas.openxmlformats.org/drawingml/2006/main">
              <a:ext uri="{FF2B5EF4-FFF2-40B4-BE49-F238E27FC236}">
                <a16:creationId xmlns:a16="http://schemas.microsoft.com/office/drawing/2014/main" id="{9E065C47-8D27-4A11-A404-2BEB94E4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38" name="Google Shape;238;p21">
            <a:extLst xmlns:a="http://schemas.openxmlformats.org/drawingml/2006/main">
              <a:ext uri="{FF2B5EF4-FFF2-40B4-BE49-F238E27FC236}">
                <a16:creationId xmlns:a16="http://schemas.microsoft.com/office/drawing/2014/main" id="{B7829EA7-ACCF-4744-8811-62F99E40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39" name="Google Shape;239;p21">
            <a:extLst xmlns:a="http://schemas.openxmlformats.org/drawingml/2006/main">
              <a:ext uri="{FF2B5EF4-FFF2-40B4-BE49-F238E27FC236}">
                <a16:creationId xmlns:a16="http://schemas.microsoft.com/office/drawing/2014/main" id="{FF9BD842-2138-456D-B265-AE692ED30B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56c2cb485a7446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616273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5" name="Google Shape;245;p22">
            <a:extLst xmlns:a="http://schemas.openxmlformats.org/drawingml/2006/main">
              <a:ext uri="{FF2B5EF4-FFF2-40B4-BE49-F238E27FC236}">
                <a16:creationId xmlns:a16="http://schemas.microsoft.com/office/drawing/2014/main" id="{AB194944-5FF0-4189-96A1-2B64E68C3ADF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6" name="Google Shape;246;p22">
            <a:extLst xmlns:a="http://schemas.openxmlformats.org/drawingml/2006/main">
              <a:ext uri="{FF2B5EF4-FFF2-40B4-BE49-F238E27FC236}">
                <a16:creationId xmlns:a16="http://schemas.microsoft.com/office/drawing/2014/main" id="{359D9904-F1BA-4C15-B109-DF88A4DE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Observed assessment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7" name="Google Shape;247;p22">
            <a:extLst xmlns:a="http://schemas.openxmlformats.org/drawingml/2006/main">
              <a:ext uri="{FF2B5EF4-FFF2-40B4-BE49-F238E27FC236}">
                <a16:creationId xmlns:a16="http://schemas.microsoft.com/office/drawing/2014/main" id="{4C283048-E738-41FF-93A9-F8248978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Show safe, accurate work from intake through hand-off.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48" name="Google Shape;248;p22">
            <a:extLst xmlns:a="http://schemas.openxmlformats.org/drawingml/2006/main">
              <a:ext uri="{FF2B5EF4-FFF2-40B4-BE49-F238E27FC236}">
                <a16:creationId xmlns:a16="http://schemas.microsoft.com/office/drawing/2014/main" id="{218F373B-7A81-4022-BAF4-2656B003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Triage and identity checks follow procedure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Access and troubleshooting stay within authority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Information is handled and recorded appropriately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Communication, escalation and ownership are clear</a:t>
            </a:r>
          </a:p>
        </p:txBody>
      </p:sp>
      <p:sp>
        <p:nvSpPr>
          <p:cNvPr id="249" name="Google Shape;249;p22">
            <a:extLst xmlns:a="http://schemas.openxmlformats.org/drawingml/2006/main">
              <a:ext uri="{FF2B5EF4-FFF2-40B4-BE49-F238E27FC236}">
                <a16:creationId xmlns:a16="http://schemas.microsoft.com/office/drawing/2014/main" id="{3591C0C9-AC87-4353-87F6-97D28277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50" name="Google Shape;250;p22">
            <a:extLst xmlns:a="http://schemas.openxmlformats.org/drawingml/2006/main">
              <a:ext uri="{FF2B5EF4-FFF2-40B4-BE49-F238E27FC236}">
                <a16:creationId xmlns:a16="http://schemas.microsoft.com/office/drawing/2014/main" id="{363187A1-3AB3-4357-962A-6DD1F1DB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51" name="Google Shape;251;p22">
            <a:extLst xmlns:a="http://schemas.openxmlformats.org/drawingml/2006/main">
              <a:ext uri="{FF2B5EF4-FFF2-40B4-BE49-F238E27FC236}">
                <a16:creationId xmlns:a16="http://schemas.microsoft.com/office/drawing/2014/main" id="{37A9DE0C-58A1-4C45-8744-ABAC4089EF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ee9b674e0943b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14636367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206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7" name="Google Shape;257;p23">
            <a:extLst xmlns:a="http://schemas.openxmlformats.org/drawingml/2006/main">
              <a:ext uri="{FF2B5EF4-FFF2-40B4-BE49-F238E27FC236}">
                <a16:creationId xmlns:a16="http://schemas.microsoft.com/office/drawing/2014/main" id="{0D919C54-B1C3-4075-9F84-B2C66528009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8" name="Google Shape;258;p23">
            <a:extLst xmlns:a="http://schemas.openxmlformats.org/drawingml/2006/main">
              <a:ext uri="{FF2B5EF4-FFF2-40B4-BE49-F238E27FC236}">
                <a16:creationId xmlns:a16="http://schemas.microsoft.com/office/drawing/2014/main" id="{CF6B40CD-173C-4AAF-958B-9B3B1C39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Knowledge check, coaching and sign-off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59" name="Google Shape;259;p23">
            <a:extLst xmlns:a="http://schemas.openxmlformats.org/drawingml/2006/main">
              <a:ext uri="{FF2B5EF4-FFF2-40B4-BE49-F238E27FC236}">
                <a16:creationId xmlns:a16="http://schemas.microsoft.com/office/drawing/2014/main" id="{6105BD2F-9595-477F-B359-9AB0B4BF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Confirm safe practice before independent support work.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60" name="Google Shape;260;p23">
            <a:extLst xmlns:a="http://schemas.openxmlformats.org/drawingml/2006/main">
              <a:ext uri="{FF2B5EF4-FFF2-40B4-BE49-F238E27FC236}">
                <a16:creationId xmlns:a16="http://schemas.microsoft.com/office/drawing/2014/main" id="{C96FCD8C-0DC5-4D60-B8E1-F69E9D37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Review role boundaries, security and support procedures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Practise any steps that were unclear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Confirm tool access and local escalation contacts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</a:rPr>
              <a:t>Begin independent work only after authorised sign-off</a:t>
            </a:r>
          </a:p>
        </p:txBody>
      </p:sp>
      <p:sp>
        <p:nvSpPr>
          <p:cNvPr id="261" name="Google Shape;261;p23">
            <a:extLst xmlns:a="http://schemas.openxmlformats.org/drawingml/2006/main">
              <a:ext uri="{FF2B5EF4-FFF2-40B4-BE49-F238E27FC236}">
                <a16:creationId xmlns:a16="http://schemas.microsoft.com/office/drawing/2014/main" id="{05EFDB36-6DA4-4574-957D-DC0DBBDE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62" name="Google Shape;262;p23">
            <a:extLst xmlns:a="http://schemas.openxmlformats.org/drawingml/2006/main">
              <a:ext uri="{FF2B5EF4-FFF2-40B4-BE49-F238E27FC236}">
                <a16:creationId xmlns:a16="http://schemas.microsoft.com/office/drawing/2014/main" id="{611BE1D5-9609-4A96-B2D4-F1D6BD5C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B5F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63" name="Google Shape;263;p23">
            <a:extLst xmlns:a="http://schemas.openxmlformats.org/drawingml/2006/main">
              <a:ext uri="{FF2B5EF4-FFF2-40B4-BE49-F238E27FC236}">
                <a16:creationId xmlns:a16="http://schemas.microsoft.com/office/drawing/2014/main" id="{765EE488-96B5-4F47-B65D-45D674A7AE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3b2cf366e44a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6808784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9" name="Google Shape;269;p24">
            <a:extLst xmlns:a="http://schemas.openxmlformats.org/drawingml/2006/main">
              <a:ext uri="{FF2B5EF4-FFF2-40B4-BE49-F238E27FC236}">
                <a16:creationId xmlns:a16="http://schemas.microsoft.com/office/drawing/2014/main" id="{B24479F4-AE0F-4A63-B67B-04E7918B8732}"/>
              </a:ext>
            </a:extLst>
          </p:cNvPr>
          <p:cNvCxnSpPr/>
          <p:nvPr/>
        </p:nvCxnSpPr>
        <p:spPr>
          <a:xfrm xmlns:a="http://schemas.openxmlformats.org/drawingml/2006/main">
            <a:off x="0" y="23813"/>
            <a:ext cx="121920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7C3AE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" name="Google Shape;270;p24">
            <a:extLst xmlns:a="http://schemas.openxmlformats.org/drawingml/2006/main">
              <a:ext uri="{FF2B5EF4-FFF2-40B4-BE49-F238E27FC236}">
                <a16:creationId xmlns:a16="http://schemas.microsoft.com/office/drawing/2014/main" id="{6CC1B485-378E-46A1-98E6-31F38BF2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230"/>
              <a:buFont typeface="Inter"/>
              <a:buNone/>
            </a:pPr>
            <a:r>
              <a:rPr sz="3230" b="1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Welcome to the team</a:t>
            </a:r>
            <a:endParaRPr sz="323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1" name="Google Shape;271;p24">
            <a:extLst xmlns:a="http://schemas.openxmlformats.org/drawingml/2006/main">
              <a:ext uri="{FF2B5EF4-FFF2-40B4-BE49-F238E27FC236}">
                <a16:creationId xmlns:a16="http://schemas.microsoft.com/office/drawing/2014/main" id="{9524C31F-E700-42B6-8AE6-6933EF19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668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800"/>
              <a:buFont typeface="Inter"/>
              <a:buNone/>
            </a:pPr>
            <a:r>
              <a:rPr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Reliable IT support protects the people and services behind Q.</a:t>
            </a: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2" name="Google Shape;272;p24">
            <a:extLst xmlns:a="http://schemas.openxmlformats.org/drawingml/2006/main">
              <a:ext uri="{FF2B5EF4-FFF2-40B4-BE49-F238E27FC236}">
                <a16:creationId xmlns:a16="http://schemas.microsoft.com/office/drawing/2014/main" id="{17D28B4F-79EE-493F-98F7-D41BC06E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38325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Be helpful and clear. Protect access and information.</a:t>
            </a:r>
            <a:endParaRPr sz="188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Follow the approved process. Ask for help when unsure.</a:t>
            </a:r>
          </a:p>
          <a:p xmlns:a="http://schemas.openxmlformats.org/drawingml/2006/main">
            <a:pPr marL="0" marR="0" lvl="0" indent="0" algn="l">
              <a:lnSpc>
                <a:spcPct val="154574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79"/>
              <a:buFont typeface="Inter"/>
              <a:buNone/>
            </a:pPr>
            <a:r>
              <a:rPr sz="1880" b="0" i="0" u="none" strike="noStrike" cap="none">
                <a:solidFill>
                  <a:srgbClr val="1F2937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</a:p>
        </p:txBody>
      </p:sp>
      <p:sp>
        <p:nvSpPr>
          <p:cNvPr id="273" name="Google Shape;273;p24">
            <a:extLst xmlns:a="http://schemas.openxmlformats.org/drawingml/2006/main">
              <a:ext uri="{FF2B5EF4-FFF2-40B4-BE49-F238E27FC236}">
                <a16:creationId xmlns:a16="http://schemas.microsoft.com/office/drawing/2014/main" id="{EF23727D-FF57-4126-9C1A-4ADF0461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321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Inter"/>
              <a:buNone/>
            </a:pPr>
            <a:r>
              <a:rPr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</a:rPr>
              <a:t>Q Intelligence · IT Support Staff Induction</a:t>
            </a:r>
            <a:endParaRPr sz="12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274" name="Google Shape;274;p24">
            <a:extLst xmlns:a="http://schemas.openxmlformats.org/drawingml/2006/main">
              <a:ext uri="{FF2B5EF4-FFF2-40B4-BE49-F238E27FC236}">
                <a16:creationId xmlns:a16="http://schemas.microsoft.com/office/drawing/2014/main" id="{53839055-7813-4FF9-9B21-AE74E890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5943600"/>
            <a:ext cx="1714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"/>
              <a:buNone/>
            </a:pPr>
            <a:endParaRPr sz="1800" b="0" i="0" u="none" strike="noStrike" cap="none">
              <a:solidFill>
                <a:schemeClr val="dk1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275" name="Google Shape;275;p24">
            <a:extLst xmlns:a="http://schemas.openxmlformats.org/drawingml/2006/main">
              <a:ext uri="{FF2B5EF4-FFF2-40B4-BE49-F238E27FC236}">
                <a16:creationId xmlns:a16="http://schemas.microsoft.com/office/drawing/2014/main" id="{7DA4ABCC-3375-4467-A387-FB560533F3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73c3a178354a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25125" y="5267325"/>
            <a:ext cx="1038225" cy="1038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063646144"/>
      </p:ext>
    </p:extLst>
  </p:cSld>
</p:sld>
</file>

<file path=ppt/theme/theme1.xml><?xml version="1.0" encoding="utf-8"?>
<a:theme xmlns:a="http://schemas.openxmlformats.org/drawingml/2006/main" name="SlidesAI Simpl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2026-10-19T19:38:50.3780000Z</dcterms:created>
  <dcterms:modified xsi:type="dcterms:W3CDTF">2026-10-19T19:38:50.3780000Z</dcterms:modified>
</coreProperties>
</file>