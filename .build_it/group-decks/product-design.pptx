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f76b1ab00c4f3a" /><Relationship Type="http://schemas.openxmlformats.org/officeDocument/2006/relationships/extended-properties" Target="/docProps/app.xml" Id="Re1c7a51f0cfc468b" /><Relationship Type="http://schemas.openxmlformats.org/officeDocument/2006/relationships/officeDocument" Target="/ppt/presentation.xml" Id="Rbd62a1e21b5a4845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c56add78f6034296"/>
  </p:sldMasterIdLst>
  <p:notesMasterIdLst>
    <p:notesMasterId xmlns:r="http://schemas.openxmlformats.org/officeDocument/2006/relationships" r:id="R8b0734c616424d1d"/>
  </p:notesMasterIdLst>
  <p:sldIdLst>
    <p:sldId xmlns:r="http://schemas.openxmlformats.org/officeDocument/2006/relationships" id="256" r:id="R91bfa8770be745e6"/>
    <p:sldId xmlns:r="http://schemas.openxmlformats.org/officeDocument/2006/relationships" id="257" r:id="R1b78f5a9c36d460b"/>
    <p:sldId xmlns:r="http://schemas.openxmlformats.org/officeDocument/2006/relationships" id="258" r:id="Recabc1af4c7c4f11"/>
    <p:sldId xmlns:r="http://schemas.openxmlformats.org/officeDocument/2006/relationships" id="259" r:id="Re1810adc423c4d22"/>
    <p:sldId xmlns:r="http://schemas.openxmlformats.org/officeDocument/2006/relationships" id="260" r:id="Rfa2ae3c5896540fd"/>
    <p:sldId xmlns:r="http://schemas.openxmlformats.org/officeDocument/2006/relationships" id="261" r:id="R2d34573ed4294124"/>
    <p:sldId xmlns:r="http://schemas.openxmlformats.org/officeDocument/2006/relationships" id="262" r:id="Rf6d76b0c6b74491f"/>
    <p:sldId xmlns:r="http://schemas.openxmlformats.org/officeDocument/2006/relationships" id="263" r:id="R789d54e8631149cb"/>
    <p:sldId xmlns:r="http://schemas.openxmlformats.org/officeDocument/2006/relationships" id="264" r:id="R7587bed4b9594e7a"/>
    <p:sldId xmlns:r="http://schemas.openxmlformats.org/officeDocument/2006/relationships" id="265" r:id="R21d4f835bf6946e0"/>
    <p:sldId xmlns:r="http://schemas.openxmlformats.org/officeDocument/2006/relationships" id="266" r:id="Ra6d1336855b2402c"/>
    <p:sldId xmlns:r="http://schemas.openxmlformats.org/officeDocument/2006/relationships" id="267" r:id="Rc1e6c6818a254684"/>
  </p:sldIdLst>
  <p:sldSz cx="12192000" cy="6858000"/>
  <p:notesSz cx="6858000" cy="9144000"/>
  <p:embeddedFontLst>
    <p:embeddedFont>
      <p:font typeface="Inter"/>
      <p:regular xmlns:r="http://schemas.openxmlformats.org/officeDocument/2006/relationships" r:id="Re2540da1627840b5"/>
      <p:bold xmlns:r="http://schemas.openxmlformats.org/officeDocument/2006/relationships" r:id="R9ffcd1d61214442c"/>
      <p:italic xmlns:r="http://schemas.openxmlformats.org/officeDocument/2006/relationships" r:id="R6bb6a3e7db994188"/>
      <p:boldItalic xmlns:r="http://schemas.openxmlformats.org/officeDocument/2006/relationships" r:id="R1448ce2c063c4550"/>
    </p:embeddedFont>
  </p:embeddedFontLst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1e8175c57d40a1" /><Relationship Type="http://schemas.openxmlformats.org/officeDocument/2006/relationships/slideMaster" Target="/ppt/slideMasters/slideMaster1.xml" Id="Rc56add78f6034296" /><Relationship Type="http://schemas.openxmlformats.org/officeDocument/2006/relationships/notesMaster" Target="/ppt/notesMasters/notesMaster1.xml" Id="R8b0734c616424d1d" /><Relationship Type="http://schemas.openxmlformats.org/officeDocument/2006/relationships/presProps" Target="/ppt/presProps.xml" Id="R9b585f0863304f82" /><Relationship Type="http://schemas.openxmlformats.org/officeDocument/2006/relationships/viewProps" Target="/ppt/viewProps.xml" Id="R08fe064ac49a4b01" /><Relationship Type="http://schemas.openxmlformats.org/officeDocument/2006/relationships/tableStyles" Target="/ppt/tableStyles.xml" Id="R61f1fc9a6cf64f8f" /><Relationship Type="http://schemas.openxmlformats.org/officeDocument/2006/relationships/font" Target="/ppt/fonts/font.dat" Id="Re2540da1627840b5" /><Relationship Type="http://schemas.openxmlformats.org/officeDocument/2006/relationships/font" Target="/ppt/fonts/font2.dat" Id="R9ffcd1d61214442c" /><Relationship Type="http://schemas.openxmlformats.org/officeDocument/2006/relationships/font" Target="/ppt/fonts/font3.dat" Id="R6bb6a3e7db994188" /><Relationship Type="http://schemas.openxmlformats.org/officeDocument/2006/relationships/font" Target="/ppt/fonts/font4.dat" Id="R1448ce2c063c4550" /><Relationship Type="http://schemas.openxmlformats.org/officeDocument/2006/relationships/slide" Target="/ppt/slides/slide1.xml" Id="R91bfa8770be745e6" /><Relationship Type="http://schemas.openxmlformats.org/officeDocument/2006/relationships/slide" Target="/ppt/slides/slide2.xml" Id="R1b78f5a9c36d460b" /><Relationship Type="http://schemas.openxmlformats.org/officeDocument/2006/relationships/slide" Target="/ppt/slides/slide3.xml" Id="Recabc1af4c7c4f11" /><Relationship Type="http://schemas.openxmlformats.org/officeDocument/2006/relationships/slide" Target="/ppt/slides/slide4.xml" Id="Re1810adc423c4d22" /><Relationship Type="http://schemas.openxmlformats.org/officeDocument/2006/relationships/slide" Target="/ppt/slides/slide5.xml" Id="Rfa2ae3c5896540fd" /><Relationship Type="http://schemas.openxmlformats.org/officeDocument/2006/relationships/slide" Target="/ppt/slides/slide6.xml" Id="R2d34573ed4294124" /><Relationship Type="http://schemas.openxmlformats.org/officeDocument/2006/relationships/slide" Target="/ppt/slides/slide7.xml" Id="Rf6d76b0c6b74491f" /><Relationship Type="http://schemas.openxmlformats.org/officeDocument/2006/relationships/slide" Target="/ppt/slides/slide8.xml" Id="R789d54e8631149cb" /><Relationship Type="http://schemas.openxmlformats.org/officeDocument/2006/relationships/slide" Target="/ppt/slides/slide9.xml" Id="R7587bed4b9594e7a" /><Relationship Type="http://schemas.openxmlformats.org/officeDocument/2006/relationships/slide" Target="/ppt/slides/slide10.xml" Id="R21d4f835bf6946e0" /><Relationship Type="http://schemas.openxmlformats.org/officeDocument/2006/relationships/slide" Target="/ppt/slides/slide11.xml" Id="Ra6d1336855b2402c" /><Relationship Type="http://schemas.openxmlformats.org/officeDocument/2006/relationships/slide" Target="/ppt/slides/slide12.xml" Id="Rc1e6c6818a2546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6b084a1f5744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lidesAI Simpl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3a73466596e46f5" /><Relationship Type="http://schemas.openxmlformats.org/officeDocument/2006/relationships/notesMaster" Target="/ppt/notesMasters/notesMaster1.xml" Id="R1e74b241dbfa48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78102f90ea040d9" /><Relationship Type="http://schemas.openxmlformats.org/officeDocument/2006/relationships/notesMaster" Target="/ppt/notesMasters/notesMaster1.xml" Id="R63806886e80b4ca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1f2973eb43e4870" /><Relationship Type="http://schemas.openxmlformats.org/officeDocument/2006/relationships/notesMaster" Target="/ppt/notesMasters/notesMaster1.xml" Id="R13c0c5d1dd5d4b3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41fb35b705d4cb1" /><Relationship Type="http://schemas.openxmlformats.org/officeDocument/2006/relationships/notesMaster" Target="/ppt/notesMasters/notesMaster1.xml" Id="R5f38fa41a0204d7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1c2c7c843f64979" /><Relationship Type="http://schemas.openxmlformats.org/officeDocument/2006/relationships/notesMaster" Target="/ppt/notesMasters/notesMaster1.xml" Id="R5bef6af2ee0742b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6d7d27d05404ef6" /><Relationship Type="http://schemas.openxmlformats.org/officeDocument/2006/relationships/notesMaster" Target="/ppt/notesMasters/notesMaster1.xml" Id="Rf524c4b7b4cd4b8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7b9c0687ba44299" /><Relationship Type="http://schemas.openxmlformats.org/officeDocument/2006/relationships/notesMaster" Target="/ppt/notesMasters/notesMaster1.xml" Id="R155b9603f646434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2ad8fd19dfc43af" /><Relationship Type="http://schemas.openxmlformats.org/officeDocument/2006/relationships/notesMaster" Target="/ppt/notesMasters/notesMaster1.xml" Id="Rdc79a8ace25f418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e6c16dafdef4e66" /><Relationship Type="http://schemas.openxmlformats.org/officeDocument/2006/relationships/notesMaster" Target="/ppt/notesMasters/notesMaster1.xml" Id="R5046191ac133433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0988315d5464cb8" /><Relationship Type="http://schemas.openxmlformats.org/officeDocument/2006/relationships/notesMaster" Target="/ppt/notesMasters/notesMaster1.xml" Id="R4984fd0c8b5a405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8f2a0a7034f4cb5" /><Relationship Type="http://schemas.openxmlformats.org/officeDocument/2006/relationships/notesMaster" Target="/ppt/notesMasters/notesMaster1.xml" Id="Ree8424bee80548d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2c94476edbf4495" /><Relationship Type="http://schemas.openxmlformats.org/officeDocument/2006/relationships/notesMaster" Target="/ppt/notesMasters/notesMaster1.xml" Id="R9d68e7679d7c42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Welcome agents and explain how their work supports a respectful, reliable customer experience.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Set expectations for participation, questions and asking for help.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Pair introductions: each person shares one service quality they value as a customer and </a:t>
            </a:r>
            <a:r>
              <a:t>one behavior </a:t>
            </a:r>
            <a:r>
              <a:t>that demonstrates it. Invite a few examples; no personal wellbeing disclosures are needed.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Describe Q as a secure platform combining technology, wellbeing tools, guided support and personal growth resources.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Explain the visible features listed here: mood tracking, journaling, guided support and reflection resources. Avoid promising clinical outcomes or features not shown in approved guidance.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In pairs, give a 30-second plain-language explanation of Q to a new user. Partners identify one clear phrase and one point that needs approved guidance.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Connect personal pace, access to support, trust, privacy and wellbeing to everyday service choices.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Invite agents to consider how an interaction can respect a customer’s own goals without directing or judging them.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For each value on the slide, ask pairs to name one observable support behaviour that would demonstrate it. Share one example per pair.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Walk through the morning, afternoon and finish, showing how the topics build from safe principles to practice.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Explain that practice and sign-off are opportunities to identify support needs, not a reason to guess when uncertain.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Ask each learner to choose one topic they feel confident about and one they want to practise. Capture the latter for coaching later in the day.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Emphasise listening, non-judgement, accurate approved information and staying within training and access.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Distinguish helpful service from counselling, diagnosis, personal opinions or making commitments outside authority.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Read three short statements aloud: “I can show you where to find that setting”; “It sounds like you have depression”; “I’ll guarantee this is fixed today.” Learners classify as in role or out of role and rewrite the out-of-role replies safely.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A pause is appropriate when identity, access, risk or the correct next step is unclear.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Escalation protects the customer and agent; use the designated route and share only relevant facts. Do not promise an outcome or investigate beyond authority.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Scenario sort: learners label each case “continue”, “pause and check” or “escalate”: uncertain account identity; request for a feature walkthrough; report of a security concern; question asking for a legal interpretation. Discuss the route specified by local procedure.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Use information only for a clear support purpose and only what is needed.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Keep records factual, respectful and in approved systems; route rights or legal questions to the designated contact rather than deciding them.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Show a fictional over-detailed case note. Ask learners to remove irrelevant personal details and rewrite it as a concise, factual record. Discuss what should be routed instead of answered directly.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Reinforce never requesting passwords, one-time codes, reset links, journals, mood logs or private-chat screenshots.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Check recipient, attachments and quoted history before sending; keep customer information in approved tools.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“Spot the risk” email review: provide a fictional message containing a wrong recipient, unnecessary screenshot and quoted customer history. Learners identify each risk and state the safe correction before sending.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Treat suspected disclosure, account compromise or unusual access as a concern to report promptly through the designated incident route.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Recognise a rights request even when phrased informally; acknowledge it and route it to the designated privacy contact. Do not delete, export or promise a deadline unless procedure authorises it.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In triads, role-play an agent receiving (1) a suspected account compromise and (2) a request to see or erase personal information. Practise acknowledging, recording only necessary facts and routing without making a determination.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Demonstrate the platform areas named in the approved environment: mood tracking, journaling, guided programmes, memory features and user settings.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Explain that agents should guide navigation, not inspect or request private wellbeing content. Confirm any uncertain feature details against current guidance.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Give learners a guided “find the setting” task in a training or demo account. Ask them to describe the navigation steps without opening or discussing personal entries.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Describe what a feature does in neutral, plain language and explain its limits using approved wording.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Do not interpret mood entries, infer diagnoses or claim that a feature will produce a particular wellbeing result.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Learners rewrite two overclaims into safe explanations: “This will cure your anxiety” and “I can tell from your mood log what is wrong.” Ask them to keep the explanation useful and non-clinical.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Warmth and empathy can coexist with clear professional boundaries.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Acknowledge feelings without probing for intimate details; offer an appropriate platform or support route and escalate concerns using procedure.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Role-play a customer asking the agent to interpret a journal entry. Practise a brief empathic boundary statement and an appropriate next step; observer gives feedback on tone and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27be84243c43cd" /></Relationships>
</file>

<file path=ppt/slideLayouts/slideLayout1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13bdd70d9243b1" /><Relationship Type="http://schemas.openxmlformats.org/officeDocument/2006/relationships/slideLayout" Target="/ppt/slideLayouts/slideLayout1.xml" Id="Rd95fbb8a4503479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5fbb8a4503479c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lidesAI Simpl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82f4b568cf4658" /><Relationship Type="http://schemas.openxmlformats.org/officeDocument/2006/relationships/image" Target="/ppt/media/image.png" Id="Ref78c02a9a364bc2" /><Relationship Type="http://schemas.openxmlformats.org/officeDocument/2006/relationships/notesSlide" Target="/ppt/notesSlides/notesSlide1.xml" Id="R6270ee77aebc408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e36d713ab24871" /><Relationship Type="http://schemas.openxmlformats.org/officeDocument/2006/relationships/image" Target="/ppt/media/image2.png" Id="Ra68bb594f29f4181" /><Relationship Type="http://schemas.openxmlformats.org/officeDocument/2006/relationships/notesSlide" Target="/ppt/notesSlides/notesSlide2.xml" Id="R751f14ea2ebb44a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9a76086406493e" /><Relationship Type="http://schemas.openxmlformats.org/officeDocument/2006/relationships/image" Target="/ppt/media/image2.png" Id="R150236c7b02d419a" /><Relationship Type="http://schemas.openxmlformats.org/officeDocument/2006/relationships/notesSlide" Target="/ppt/notesSlides/notesSlide3.xml" Id="R06e3313f2976442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e8e215e8d64a56" /><Relationship Type="http://schemas.openxmlformats.org/officeDocument/2006/relationships/image" Target="/ppt/media/image2.png" Id="Re503dba1163649fd" /><Relationship Type="http://schemas.openxmlformats.org/officeDocument/2006/relationships/notesSlide" Target="/ppt/notesSlides/notesSlide4.xml" Id="Rfaa74785c6704d5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d41b8951aa4d25" /><Relationship Type="http://schemas.openxmlformats.org/officeDocument/2006/relationships/image" Target="/ppt/media/image2.png" Id="R40734e4b62854f95" /><Relationship Type="http://schemas.openxmlformats.org/officeDocument/2006/relationships/notesSlide" Target="/ppt/notesSlides/notesSlide5.xml" Id="Rf9d75b01de3e4e4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b672ff5e514ee6" /><Relationship Type="http://schemas.openxmlformats.org/officeDocument/2006/relationships/image" Target="/ppt/media/image2.png" Id="R64de6996550b491e" /><Relationship Type="http://schemas.openxmlformats.org/officeDocument/2006/relationships/notesSlide" Target="/ppt/notesSlides/notesSlide6.xml" Id="Rc52fc188eaa14d8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51f986e8e74509" /><Relationship Type="http://schemas.openxmlformats.org/officeDocument/2006/relationships/image" Target="/ppt/media/image2.png" Id="Rd53e5221eb50400d" /><Relationship Type="http://schemas.openxmlformats.org/officeDocument/2006/relationships/notesSlide" Target="/ppt/notesSlides/notesSlide7.xml" Id="R3f32dbbee22d476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cab8f2161e443e" /><Relationship Type="http://schemas.openxmlformats.org/officeDocument/2006/relationships/image" Target="/ppt/media/image2.png" Id="Rcc844fd4f9f84193" /><Relationship Type="http://schemas.openxmlformats.org/officeDocument/2006/relationships/notesSlide" Target="/ppt/notesSlides/notesSlide8.xml" Id="Rddb43cbf986a49e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88b079b05847cd" /><Relationship Type="http://schemas.openxmlformats.org/officeDocument/2006/relationships/image" Target="/ppt/media/image2.png" Id="Rd7474291c65a4cbf" /><Relationship Type="http://schemas.openxmlformats.org/officeDocument/2006/relationships/notesSlide" Target="/ppt/notesSlides/notesSlide9.xml" Id="R3831d0aea31e4c2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c47a8a2b3e4521" /><Relationship Type="http://schemas.openxmlformats.org/officeDocument/2006/relationships/image" Target="/ppt/media/image2.png" Id="R4a3034c66fca4abc" /><Relationship Type="http://schemas.openxmlformats.org/officeDocument/2006/relationships/notesSlide" Target="/ppt/notesSlides/notesSlide10.xml" Id="R194ec7da0f3c4ce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842187ea0a4421" /><Relationship Type="http://schemas.openxmlformats.org/officeDocument/2006/relationships/image" Target="/ppt/media/image2.png" Id="R04cbecb51bc240f2" /><Relationship Type="http://schemas.openxmlformats.org/officeDocument/2006/relationships/notesSlide" Target="/ppt/notesSlides/notesSlide11.xml" Id="R0dbc4f7a442147c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85e46c57d9495a" /><Relationship Type="http://schemas.openxmlformats.org/officeDocument/2006/relationships/image" Target="/ppt/media/image2.png" Id="Rc3e0a3c725ec450e" /><Relationship Type="http://schemas.openxmlformats.org/officeDocument/2006/relationships/image" Target="/ppt/media/image3.png" Id="Red222a48a54549a7" /><Relationship Type="http://schemas.openxmlformats.org/officeDocument/2006/relationships/hyperlink" Target="https://slidesai.io/?utm_source=export&amp;utm_medium=pptx" TargetMode="External" Id="R4b72ea691d4e4ea7" /><Relationship Type="http://schemas.openxmlformats.org/officeDocument/2006/relationships/notesSlide" Target="/ppt/notesSlides/notesSlide12.xml" Id="Re03950ef7a104bb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9D77E406-28F6-4AD6-BB83-59E27EB3F15D}"/>
              </a:ext>
            </a:extLst>
          </p:cNvPr>
          <p:cNvCxnSpPr/>
          <p:nvPr/>
        </p:nvCxnSpPr>
        <p:spPr>
          <a:xfrm xmlns:a="http://schemas.openxmlformats.org/drawingml/2006/main">
            <a:off x="876300" y="909638"/>
            <a:ext cx="838200" cy="0"/>
          </a:xfrm>
          <a:prstGeom xmlns:a="http://schemas.openxmlformats.org/drawingml/2006/main" prst="straightConnector1">
            <a:avLst/>
          </a:prstGeom>
          <a:ln xmlns:a="http://schemas.openxmlformats.org/drawingml/2006/main" w="6667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" name="Google Shape;17;p3">
            <a:extLst xmlns:a="http://schemas.openxmlformats.org/drawingml/2006/main">
              <a:ext uri="{FF2B5EF4-FFF2-40B4-BE49-F238E27FC236}">
                <a16:creationId xmlns:a16="http://schemas.microsoft.com/office/drawing/2014/main" id="{311014D3-89A8-4C37-B759-389CCB6ED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104394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Inter"/>
              <a:buNone/>
            </a:pPr>
            <a:r>
              <a:rPr sz="4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Product &amp; Design</a:t>
            </a:r>
            <a:endParaRPr sz="4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Inter"/>
              <a:buNone/>
            </a:pPr>
            <a:r>
              <a:rPr sz="4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Training</a:t>
            </a:r>
          </a:p>
        </p:txBody>
      </p:sp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27274046-F035-4BEA-B44E-229D5E3A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67075"/>
            <a:ext cx="857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2D6FF"/>
              </a:buClr>
              <a:buSzPts val="2250"/>
              <a:buFont typeface="Inter"/>
              <a:buNone/>
            </a:pPr>
            <a:r>
              <a:rPr sz="2250" b="0" i="0" u="none" strike="noStrike" cap="none">
                <a:solidFill>
                  <a:srgbClr val="E2D6FF"/>
                </a:solidFill>
                <a:latin typeface="Inter"/>
                <a:ea typeface="Inter"/>
                <a:cs typeface="Inter"/>
              </a:rPr>
              <a:t>A practical introduction to the product &amp; design roles at Q.</a:t>
            </a:r>
            <a:endParaRPr sz="225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0D268EF1-3461-4679-8785-4F3584D6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72175"/>
            <a:ext cx="1390138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80"/>
              <a:buFont typeface="Inter"/>
              <a:buNone/>
            </a:pPr>
            <a:r>
              <a:rPr sz="158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Q Intelligence</a:t>
            </a:r>
            <a:endParaRPr sz="15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69CAA748-1580-4718-95ED-0A8986EC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0"/>
            <a:ext cx="276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123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21" name="Google Shape;21;p3">
            <a:extLst xmlns:a="http://schemas.openxmlformats.org/drawingml/2006/main">
              <a:ext uri="{FF2B5EF4-FFF2-40B4-BE49-F238E27FC236}">
                <a16:creationId xmlns:a16="http://schemas.microsoft.com/office/drawing/2014/main" id="{C890866B-48AE-4202-ABF6-47CBEF420F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f78c02a9a364bc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848850" y="1790700"/>
            <a:ext cx="1924050" cy="1924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2516541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47122A03-F66F-463C-AAF1-21979BD1C977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B896E2CE-057A-4CD3-AB96-4ADF76C5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Role group purpose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9CD6598E-D24B-42A4-B46D-258DA0CF4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Shape useful, accessible product experiences that support Q’s mission and respect user trust.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348829BF-09DD-4377-B5EC-60A059F5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Translate user needs and evidence into clear product priorities, designs and testable outcomes.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Roles in this group: Product Manager, UX/UI Designer, Product Researcher.</a:t>
            </a:r>
          </a:p>
        </p:txBody>
      </p:sp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EE240636-00C2-4A0B-B096-6D97D564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Product &amp; Design Training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03B94B37-4A42-432C-B6A6-A342391DE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4F9874CF-C58A-46CD-AF64-3C1747F199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68bb594f29f418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0408911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9" name="Google Shape;39;p5">
            <a:extLst xmlns:a="http://schemas.openxmlformats.org/drawingml/2006/main">
              <a:ext uri="{FF2B5EF4-FFF2-40B4-BE49-F238E27FC236}">
                <a16:creationId xmlns:a16="http://schemas.microsoft.com/office/drawing/2014/main" id="{EE81C647-1D6E-4941-AC8E-25F026A41853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" name="Google Shape;40;p5">
            <a:extLst xmlns:a="http://schemas.openxmlformats.org/drawingml/2006/main">
              <a:ext uri="{FF2B5EF4-FFF2-40B4-BE49-F238E27FC236}">
                <a16:creationId xmlns:a16="http://schemas.microsoft.com/office/drawing/2014/main" id="{F1BEEDCF-9556-4BEC-AC52-3E844D19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Q’s mission and values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1" name="Google Shape;41;p5">
            <a:extLst xmlns:a="http://schemas.openxmlformats.org/drawingml/2006/main">
              <a:ext uri="{FF2B5EF4-FFF2-40B4-BE49-F238E27FC236}">
                <a16:creationId xmlns:a16="http://schemas.microsoft.com/office/drawing/2014/main" id="{C87B0E37-740F-48AE-A981-7CB5B368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Apply trust, privacy and wellbeing to everyday work.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2" name="Google Shape;42;p5">
            <a:extLst xmlns:a="http://schemas.openxmlformats.org/drawingml/2006/main">
              <a:ext uri="{FF2B5EF4-FFF2-40B4-BE49-F238E27FC236}">
                <a16:creationId xmlns:a16="http://schemas.microsoft.com/office/drawing/2014/main" id="{0B1C1BD5-0FDC-4A69-BA0B-88C57DD7D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Support people at their own pace.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Make support available when it is needed.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Put trust, privacy and user wellbeing at the centre.</a:t>
            </a:r>
          </a:p>
        </p:txBody>
      </p:sp>
      <p:sp>
        <p:nvSpPr>
          <p:cNvPr id="43" name="Google Shape;43;p5">
            <a:extLst xmlns:a="http://schemas.openxmlformats.org/drawingml/2006/main">
              <a:ext uri="{FF2B5EF4-FFF2-40B4-BE49-F238E27FC236}">
                <a16:creationId xmlns:a16="http://schemas.microsoft.com/office/drawing/2014/main" id="{77C359D1-562B-47D1-8163-D4DE00B7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Q Intelligence · Product &amp; Design Training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4" name="Google Shape;44;p5">
            <a:extLst xmlns:a="http://schemas.openxmlformats.org/drawingml/2006/main">
              <a:ext uri="{FF2B5EF4-FFF2-40B4-BE49-F238E27FC236}">
                <a16:creationId xmlns:a16="http://schemas.microsoft.com/office/drawing/2014/main" id="{35321BE0-D4A1-4B40-A70A-1765986C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B5F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45" name="Google Shape;45;p5">
            <a:extLst xmlns:a="http://schemas.openxmlformats.org/drawingml/2006/main">
              <a:ext uri="{FF2B5EF4-FFF2-40B4-BE49-F238E27FC236}">
                <a16:creationId xmlns:a16="http://schemas.microsoft.com/office/drawing/2014/main" id="{3BBDBB68-CF48-48CB-B127-FB8E632049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50236c7b02d419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8492271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51" name="Google Shape;51;p6">
            <a:extLst xmlns:a="http://schemas.openxmlformats.org/drawingml/2006/main">
              <a:ext uri="{FF2B5EF4-FFF2-40B4-BE49-F238E27FC236}">
                <a16:creationId xmlns:a16="http://schemas.microsoft.com/office/drawing/2014/main" id="{FDC62DFF-B923-4BC1-AEAD-75B9D4F3D72B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2" name="Google Shape;52;p6">
            <a:extLst xmlns:a="http://schemas.openxmlformats.org/drawingml/2006/main">
              <a:ext uri="{FF2B5EF4-FFF2-40B4-BE49-F238E27FC236}">
                <a16:creationId xmlns:a16="http://schemas.microsoft.com/office/drawing/2014/main" id="{C498A30F-3A34-4295-B1EF-D5667B31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Responsibilities and boundaries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3" name="Google Shape;53;p6">
            <a:extLst xmlns:a="http://schemas.openxmlformats.org/drawingml/2006/main">
              <a:ext uri="{FF2B5EF4-FFF2-40B4-BE49-F238E27FC236}">
                <a16:creationId xmlns:a16="http://schemas.microsoft.com/office/drawing/2014/main" id="{9E54A5F2-0237-454A-B4A1-C114ECB38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Know what the group owns, what needs review and what must be escalated.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4" name="Google Shape;54;p6">
            <a:extLst xmlns:a="http://schemas.openxmlformats.org/drawingml/2006/main">
              <a:ext uri="{FF2B5EF4-FFF2-40B4-BE49-F238E27FC236}">
                <a16:creationId xmlns:a16="http://schemas.microsoft.com/office/drawing/2014/main" id="{2E21B003-7731-4668-A211-0479C89D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Understand user needs through approved research.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Define scope, requirements and acceptance criteria.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Design, test and improve product journeys.</a:t>
            </a:r>
          </a:p>
        </p:txBody>
      </p:sp>
      <p:sp>
        <p:nvSpPr>
          <p:cNvPr id="55" name="Google Shape;55;p6">
            <a:extLst xmlns:a="http://schemas.openxmlformats.org/drawingml/2006/main">
              <a:ext uri="{FF2B5EF4-FFF2-40B4-BE49-F238E27FC236}">
                <a16:creationId xmlns:a16="http://schemas.microsoft.com/office/drawing/2014/main" id="{15374D75-83E0-4354-9064-4B54A60A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Product &amp; Design Training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6" name="Google Shape;56;p6">
            <a:extLst xmlns:a="http://schemas.openxmlformats.org/drawingml/2006/main">
              <a:ext uri="{FF2B5EF4-FFF2-40B4-BE49-F238E27FC236}">
                <a16:creationId xmlns:a16="http://schemas.microsoft.com/office/drawing/2014/main" id="{DE137094-7FF5-4BF1-B0A9-271D9DB5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57" name="Google Shape;57;p6">
            <a:extLst xmlns:a="http://schemas.openxmlformats.org/drawingml/2006/main">
              <a:ext uri="{FF2B5EF4-FFF2-40B4-BE49-F238E27FC236}">
                <a16:creationId xmlns:a16="http://schemas.microsoft.com/office/drawing/2014/main" id="{303408F9-331F-44D0-8658-3E0C07D66C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503dba1163649f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818083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63" name="Google Shape;63;p7">
            <a:extLst xmlns:a="http://schemas.openxmlformats.org/drawingml/2006/main">
              <a:ext uri="{FF2B5EF4-FFF2-40B4-BE49-F238E27FC236}">
                <a16:creationId xmlns:a16="http://schemas.microsoft.com/office/drawing/2014/main" id="{0F0A4D02-6E1E-4A42-8125-2C378577EEBE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4" name="Google Shape;64;p7">
            <a:extLst xmlns:a="http://schemas.openxmlformats.org/drawingml/2006/main">
              <a:ext uri="{FF2B5EF4-FFF2-40B4-BE49-F238E27FC236}">
                <a16:creationId xmlns:a16="http://schemas.microsoft.com/office/drawing/2014/main" id="{C2E8DB0B-BF10-4B1B-B199-C7E1CA2D6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Planning and priorities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65" name="Google Shape;65;p7">
            <a:extLst xmlns:a="http://schemas.openxmlformats.org/drawingml/2006/main">
              <a:ext uri="{FF2B5EF4-FFF2-40B4-BE49-F238E27FC236}">
                <a16:creationId xmlns:a16="http://schemas.microsoft.com/office/drawing/2014/main" id="{3347FBC0-74EB-4458-BFC5-44062F26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Use impact, evidence and agreed criteria to decide what comes first.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66" name="Google Shape;66;p7">
            <a:extLst xmlns:a="http://schemas.openxmlformats.org/drawingml/2006/main">
              <a:ext uri="{FF2B5EF4-FFF2-40B4-BE49-F238E27FC236}">
                <a16:creationId xmlns:a16="http://schemas.microsoft.com/office/drawing/2014/main" id="{EE90F1AB-D9E9-4EF8-AAD7-8378A833B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Use evidence, user impact, feasibility and risk.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Make assumptions explicit and test them.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Balance learning with a manageable release scope.</a:t>
            </a:r>
          </a:p>
        </p:txBody>
      </p:sp>
      <p:sp>
        <p:nvSpPr>
          <p:cNvPr id="67" name="Google Shape;67;p7">
            <a:extLst xmlns:a="http://schemas.openxmlformats.org/drawingml/2006/main">
              <a:ext uri="{FF2B5EF4-FFF2-40B4-BE49-F238E27FC236}">
                <a16:creationId xmlns:a16="http://schemas.microsoft.com/office/drawing/2014/main" id="{80B12499-A067-477B-80D2-A66480DB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Q Intelligence · Product &amp; Design Training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68" name="Google Shape;68;p7">
            <a:extLst xmlns:a="http://schemas.openxmlformats.org/drawingml/2006/main">
              <a:ext uri="{FF2B5EF4-FFF2-40B4-BE49-F238E27FC236}">
                <a16:creationId xmlns:a16="http://schemas.microsoft.com/office/drawing/2014/main" id="{18592D3C-017B-4D23-A133-8DA2D473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B5F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69" name="Google Shape;69;p7">
            <a:extLst xmlns:a="http://schemas.openxmlformats.org/drawingml/2006/main">
              <a:ext uri="{FF2B5EF4-FFF2-40B4-BE49-F238E27FC236}">
                <a16:creationId xmlns:a16="http://schemas.microsoft.com/office/drawing/2014/main" id="{862B371B-AE7A-4C8E-928D-C5CC2623F1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0734e4b62854f9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0885118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5" name="Google Shape;75;p8">
            <a:extLst xmlns:a="http://schemas.openxmlformats.org/drawingml/2006/main">
              <a:ext uri="{FF2B5EF4-FFF2-40B4-BE49-F238E27FC236}">
                <a16:creationId xmlns:a16="http://schemas.microsoft.com/office/drawing/2014/main" id="{6336DF85-A8F1-4180-898D-67E17FFBB3E8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6" name="Google Shape;76;p8">
            <a:extLst xmlns:a="http://schemas.openxmlformats.org/drawingml/2006/main">
              <a:ext uri="{FF2B5EF4-FFF2-40B4-BE49-F238E27FC236}">
                <a16:creationId xmlns:a16="http://schemas.microsoft.com/office/drawing/2014/main" id="{0708B561-51A0-4BA5-B446-58A8CFD19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Design for the people Q serves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77" name="Google Shape;77;p8">
            <a:extLst xmlns:a="http://schemas.openxmlformats.org/drawingml/2006/main">
              <a:ext uri="{FF2B5EF4-FFF2-40B4-BE49-F238E27FC236}">
                <a16:creationId xmlns:a16="http://schemas.microsoft.com/office/drawing/2014/main" id="{472FE18F-023D-4D71-8825-7249E518D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Make decisions with inclusion, accessibility and user trust in view.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78" name="Google Shape;78;p8">
            <a:extLst xmlns:a="http://schemas.openxmlformats.org/drawingml/2006/main">
              <a:ext uri="{FF2B5EF4-FFF2-40B4-BE49-F238E27FC236}">
                <a16:creationId xmlns:a16="http://schemas.microsoft.com/office/drawing/2014/main" id="{93839D5E-7C76-42F7-BC7B-837451BC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Use inclusive, accessible research and design methods.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Avoid asking for unnecessary sensitive disclosures.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Give participants a clear purpose and choice.</a:t>
            </a:r>
          </a:p>
        </p:txBody>
      </p:sp>
      <p:sp>
        <p:nvSpPr>
          <p:cNvPr id="79" name="Google Shape;79;p8">
            <a:extLst xmlns:a="http://schemas.openxmlformats.org/drawingml/2006/main">
              <a:ext uri="{FF2B5EF4-FFF2-40B4-BE49-F238E27FC236}">
                <a16:creationId xmlns:a16="http://schemas.microsoft.com/office/drawing/2014/main" id="{703ED4B6-E020-4626-8634-C7039687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Product &amp; Design Training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80" name="Google Shape;80;p8">
            <a:extLst xmlns:a="http://schemas.openxmlformats.org/drawingml/2006/main">
              <a:ext uri="{FF2B5EF4-FFF2-40B4-BE49-F238E27FC236}">
                <a16:creationId xmlns:a16="http://schemas.microsoft.com/office/drawing/2014/main" id="{37286126-C26A-4A6D-8B86-F3E17AD75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81" name="Google Shape;81;p8">
            <a:extLst xmlns:a="http://schemas.openxmlformats.org/drawingml/2006/main">
              <a:ext uri="{FF2B5EF4-FFF2-40B4-BE49-F238E27FC236}">
                <a16:creationId xmlns:a16="http://schemas.microsoft.com/office/drawing/2014/main" id="{694CB0D5-B237-4E0A-AB86-1F6C8723B5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4de6996550b491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964586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7" name="Google Shape;87;p9">
            <a:extLst xmlns:a="http://schemas.openxmlformats.org/drawingml/2006/main">
              <a:ext uri="{FF2B5EF4-FFF2-40B4-BE49-F238E27FC236}">
                <a16:creationId xmlns:a16="http://schemas.microsoft.com/office/drawing/2014/main" id="{98FD903A-B3BA-462D-BB4D-A7F18E34E424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8" name="Google Shape;88;p9">
            <a:extLst xmlns:a="http://schemas.openxmlformats.org/drawingml/2006/main">
              <a:ext uri="{FF2B5EF4-FFF2-40B4-BE49-F238E27FC236}">
                <a16:creationId xmlns:a16="http://schemas.microsoft.com/office/drawing/2014/main" id="{5807D283-DA14-41D2-AD47-F0B8E9BE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Privacy and information handling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89" name="Google Shape;89;p9">
            <a:extLst xmlns:a="http://schemas.openxmlformats.org/drawingml/2006/main">
              <a:ext uri="{FF2B5EF4-FFF2-40B4-BE49-F238E27FC236}">
                <a16:creationId xmlns:a16="http://schemas.microsoft.com/office/drawing/2014/main" id="{F406AA3A-6AAA-4851-8848-38B290457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Use only the information needed for an authorised purpose.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90" name="Google Shape;90;p9">
            <a:extLst xmlns:a="http://schemas.openxmlformats.org/drawingml/2006/main">
              <a:ext uri="{FF2B5EF4-FFF2-40B4-BE49-F238E27FC236}">
                <a16:creationId xmlns:a16="http://schemas.microsoft.com/office/drawing/2014/main" id="{97B3F973-A919-45DF-B6F4-442CBB27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Collect the minimum research data needed.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Use approved consent, storage and retention processes.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Separate research notes from identifying details where required.</a:t>
            </a:r>
          </a:p>
        </p:txBody>
      </p:sp>
      <p:sp>
        <p:nvSpPr>
          <p:cNvPr id="91" name="Google Shape;91;p9">
            <a:extLst xmlns:a="http://schemas.openxmlformats.org/drawingml/2006/main">
              <a:ext uri="{FF2B5EF4-FFF2-40B4-BE49-F238E27FC236}">
                <a16:creationId xmlns:a16="http://schemas.microsoft.com/office/drawing/2014/main" id="{BF9BBE0A-09A8-4555-B048-3F4673B9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Product &amp; Design Training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92" name="Google Shape;92;p9">
            <a:extLst xmlns:a="http://schemas.openxmlformats.org/drawingml/2006/main">
              <a:ext uri="{FF2B5EF4-FFF2-40B4-BE49-F238E27FC236}">
                <a16:creationId xmlns:a16="http://schemas.microsoft.com/office/drawing/2014/main" id="{F13080D0-0104-4E5C-9DDE-4416BD897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93" name="Google Shape;93;p9">
            <a:extLst xmlns:a="http://schemas.openxmlformats.org/drawingml/2006/main">
              <a:ext uri="{FF2B5EF4-FFF2-40B4-BE49-F238E27FC236}">
                <a16:creationId xmlns:a16="http://schemas.microsoft.com/office/drawing/2014/main" id="{F94F4A22-9EDF-42B9-9E27-703FD9ED85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53e5221eb50400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5382036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9" name="Google Shape;99;p10">
            <a:extLst xmlns:a="http://schemas.openxmlformats.org/drawingml/2006/main">
              <a:ext uri="{FF2B5EF4-FFF2-40B4-BE49-F238E27FC236}">
                <a16:creationId xmlns:a16="http://schemas.microsoft.com/office/drawing/2014/main" id="{1A080032-D1E1-473A-86FC-1AD9FA935BA8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0" name="Google Shape;100;p10">
            <a:extLst xmlns:a="http://schemas.openxmlformats.org/drawingml/2006/main">
              <a:ext uri="{FF2B5EF4-FFF2-40B4-BE49-F238E27FC236}">
                <a16:creationId xmlns:a16="http://schemas.microsoft.com/office/drawing/2014/main" id="{B40AB0A5-9ED9-4738-808A-6B4E13CC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Security and safe systems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01" name="Google Shape;101;p10">
            <a:extLst xmlns:a="http://schemas.openxmlformats.org/drawingml/2006/main">
              <a:ext uri="{FF2B5EF4-FFF2-40B4-BE49-F238E27FC236}">
                <a16:creationId xmlns:a16="http://schemas.microsoft.com/office/drawing/2014/main" id="{AFC6EA5E-0451-4C6B-98F1-0BDCB2DD3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Protect accounts, assets, content and work records.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02" name="Google Shape;102;p10">
            <a:extLst xmlns:a="http://schemas.openxmlformats.org/drawingml/2006/main">
              <a:ext uri="{FF2B5EF4-FFF2-40B4-BE49-F238E27FC236}">
                <a16:creationId xmlns:a16="http://schemas.microsoft.com/office/drawing/2014/main" id="{78CCA798-D69F-4923-9AC6-C72452C7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Use approved research and design tools.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Protect prototypes, accounts and unreleased information.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Request access through the authorised process.</a:t>
            </a:r>
          </a:p>
        </p:txBody>
      </p:sp>
      <p:sp>
        <p:nvSpPr>
          <p:cNvPr id="103" name="Google Shape;103;p10">
            <a:extLst xmlns:a="http://schemas.openxmlformats.org/drawingml/2006/main">
              <a:ext uri="{FF2B5EF4-FFF2-40B4-BE49-F238E27FC236}">
                <a16:creationId xmlns:a16="http://schemas.microsoft.com/office/drawing/2014/main" id="{E1C66EBC-F1C7-43D9-900C-E842DA8B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Q Intelligence · Product &amp; Design Training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04" name="Google Shape;104;p10">
            <a:extLst xmlns:a="http://schemas.openxmlformats.org/drawingml/2006/main">
              <a:ext uri="{FF2B5EF4-FFF2-40B4-BE49-F238E27FC236}">
                <a16:creationId xmlns:a16="http://schemas.microsoft.com/office/drawing/2014/main" id="{5DF53ADC-0A8E-4AB8-9BCA-B18FA222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B5F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105" name="Google Shape;105;p10">
            <a:extLst xmlns:a="http://schemas.openxmlformats.org/drawingml/2006/main">
              <a:ext uri="{FF2B5EF4-FFF2-40B4-BE49-F238E27FC236}">
                <a16:creationId xmlns:a16="http://schemas.microsoft.com/office/drawing/2014/main" id="{A7F3FA02-E2DA-4251-A886-A156DF2773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c844fd4f9f8419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21459293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1" name="Google Shape;111;p11">
            <a:extLst xmlns:a="http://schemas.openxmlformats.org/drawingml/2006/main">
              <a:ext uri="{FF2B5EF4-FFF2-40B4-BE49-F238E27FC236}">
                <a16:creationId xmlns:a16="http://schemas.microsoft.com/office/drawing/2014/main" id="{F8CAEF8D-681A-4238-9744-B3B26FE28ECA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2" name="Google Shape;112;p11">
            <a:extLst xmlns:a="http://schemas.openxmlformats.org/drawingml/2006/main">
              <a:ext uri="{FF2B5EF4-FFF2-40B4-BE49-F238E27FC236}">
                <a16:creationId xmlns:a16="http://schemas.microsoft.com/office/drawing/2014/main" id="{BB52F5D2-3DEF-43B6-8E41-4027E26D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Tools, workflows and records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13" name="Google Shape;113;p11">
            <a:extLst xmlns:a="http://schemas.openxmlformats.org/drawingml/2006/main">
              <a:ext uri="{FF2B5EF4-FFF2-40B4-BE49-F238E27FC236}">
                <a16:creationId xmlns:a16="http://schemas.microsoft.com/office/drawing/2014/main" id="{4FE7294D-B6F3-4F56-B3A3-0BFA9AA8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Use approved tools and leave work traceable for colleagues.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14" name="Google Shape;114;p11">
            <a:extLst xmlns:a="http://schemas.openxmlformats.org/drawingml/2006/main">
              <a:ext uri="{FF2B5EF4-FFF2-40B4-BE49-F238E27FC236}">
                <a16:creationId xmlns:a16="http://schemas.microsoft.com/office/drawing/2014/main" id="{373BF450-BFCB-47B1-865F-AAF7AA97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Move from brief and evidence to design, review, testing and release hand-off.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Keep requirements and decisions traceable.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Record issues and follow-up actions.</a:t>
            </a:r>
          </a:p>
        </p:txBody>
      </p:sp>
      <p:sp>
        <p:nvSpPr>
          <p:cNvPr id="115" name="Google Shape;115;p11">
            <a:extLst xmlns:a="http://schemas.openxmlformats.org/drawingml/2006/main">
              <a:ext uri="{FF2B5EF4-FFF2-40B4-BE49-F238E27FC236}">
                <a16:creationId xmlns:a16="http://schemas.microsoft.com/office/drawing/2014/main" id="{E0B51D5F-67B8-4729-85D2-5D79B6F14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Product &amp; Design Training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16" name="Google Shape;116;p11">
            <a:extLst xmlns:a="http://schemas.openxmlformats.org/drawingml/2006/main">
              <a:ext uri="{FF2B5EF4-FFF2-40B4-BE49-F238E27FC236}">
                <a16:creationId xmlns:a16="http://schemas.microsoft.com/office/drawing/2014/main" id="{F3B4E15B-8D04-4181-9CEC-6632E21D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117" name="Google Shape;117;p11">
            <a:extLst xmlns:a="http://schemas.openxmlformats.org/drawingml/2006/main">
              <a:ext uri="{FF2B5EF4-FFF2-40B4-BE49-F238E27FC236}">
                <a16:creationId xmlns:a16="http://schemas.microsoft.com/office/drawing/2014/main" id="{29065390-E5A2-426F-AA95-2F0DC4CFC7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7474291c65a4cb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7520491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3" name="Google Shape;123;p12">
            <a:extLst xmlns:a="http://schemas.openxmlformats.org/drawingml/2006/main">
              <a:ext uri="{FF2B5EF4-FFF2-40B4-BE49-F238E27FC236}">
                <a16:creationId xmlns:a16="http://schemas.microsoft.com/office/drawing/2014/main" id="{3AAA00C8-BCF4-4766-AEF7-127FAEA052FE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4" name="Google Shape;124;p12">
            <a:extLst xmlns:a="http://schemas.openxmlformats.org/drawingml/2006/main">
              <a:ext uri="{FF2B5EF4-FFF2-40B4-BE49-F238E27FC236}">
                <a16:creationId xmlns:a16="http://schemas.microsoft.com/office/drawing/2014/main" id="{FEF98001-283A-436B-94F0-26390B64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Collaboration and communication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25" name="Google Shape;125;p12">
            <a:extLst xmlns:a="http://schemas.openxmlformats.org/drawingml/2006/main">
              <a:ext uri="{FF2B5EF4-FFF2-40B4-BE49-F238E27FC236}">
                <a16:creationId xmlns:a16="http://schemas.microsoft.com/office/drawing/2014/main" id="{6E468CDF-917C-4DE5-98AC-B9024BCA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Coordinate work clearly across teams and with the people affected.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26" name="Google Shape;126;p12">
            <a:extLst xmlns:a="http://schemas.openxmlformats.org/drawingml/2006/main">
              <a:ext uri="{FF2B5EF4-FFF2-40B4-BE49-F238E27FC236}">
                <a16:creationId xmlns:a16="http://schemas.microsoft.com/office/drawing/2014/main" id="{C4505444-F0C7-40F1-AD11-AF48AF8C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Work with engineering, QA, support, community and governance colleagues.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Share decisions and changes before hand-off.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Include support and operational readiness in release planning.</a:t>
            </a:r>
          </a:p>
        </p:txBody>
      </p:sp>
      <p:sp>
        <p:nvSpPr>
          <p:cNvPr id="127" name="Google Shape;127;p12">
            <a:extLst xmlns:a="http://schemas.openxmlformats.org/drawingml/2006/main">
              <a:ext uri="{FF2B5EF4-FFF2-40B4-BE49-F238E27FC236}">
                <a16:creationId xmlns:a16="http://schemas.microsoft.com/office/drawing/2014/main" id="{CCE26D17-E053-40A1-8C7E-B28B869D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Product &amp; Design Training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28" name="Google Shape;128;p12">
            <a:extLst xmlns:a="http://schemas.openxmlformats.org/drawingml/2006/main">
              <a:ext uri="{FF2B5EF4-FFF2-40B4-BE49-F238E27FC236}">
                <a16:creationId xmlns:a16="http://schemas.microsoft.com/office/drawing/2014/main" id="{69590FF4-6382-4D4D-B03F-9BF83913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129" name="Google Shape;129;p12">
            <a:extLst xmlns:a="http://schemas.openxmlformats.org/drawingml/2006/main">
              <a:ext uri="{FF2B5EF4-FFF2-40B4-BE49-F238E27FC236}">
                <a16:creationId xmlns:a16="http://schemas.microsoft.com/office/drawing/2014/main" id="{3EF536AD-2251-4C4F-A96E-26CDF5859A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a3034c66fca4ab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6006617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5" name="Google Shape;135;p13">
            <a:extLst xmlns:a="http://schemas.openxmlformats.org/drawingml/2006/main">
              <a:ext uri="{FF2B5EF4-FFF2-40B4-BE49-F238E27FC236}">
                <a16:creationId xmlns:a16="http://schemas.microsoft.com/office/drawing/2014/main" id="{0EE3F139-F566-4F1A-B8BC-5FBBC95F5448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6" name="Google Shape;136;p13">
            <a:extLst xmlns:a="http://schemas.openxmlformats.org/drawingml/2006/main">
              <a:ext uri="{FF2B5EF4-FFF2-40B4-BE49-F238E27FC236}">
                <a16:creationId xmlns:a16="http://schemas.microsoft.com/office/drawing/2014/main" id="{7BC61D08-7A4D-4387-B949-DF3D0BD8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Risk, escalation and incidents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37" name="Google Shape;137;p13">
            <a:extLst xmlns:a="http://schemas.openxmlformats.org/drawingml/2006/main">
              <a:ext uri="{FF2B5EF4-FFF2-40B4-BE49-F238E27FC236}">
                <a16:creationId xmlns:a16="http://schemas.microsoft.com/office/drawing/2014/main" id="{C5180E71-D4D9-45CB-8EEC-3135B970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Recognise when normal work must pause for review or escalation.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38" name="Google Shape;138;p13">
            <a:extLst xmlns:a="http://schemas.openxmlformats.org/drawingml/2006/main">
              <a:ext uri="{FF2B5EF4-FFF2-40B4-BE49-F238E27FC236}">
                <a16:creationId xmlns:a16="http://schemas.microsoft.com/office/drawing/2014/main" id="{49C7850D-C271-45F0-9A6D-5469ADA7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Unvalidated assumptions, inaccessible journeys, privacy surprises, unsafe content and unclear requirements.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39" name="Google Shape;139;p13">
            <a:extLst xmlns:a="http://schemas.openxmlformats.org/drawingml/2006/main">
              <a:ext uri="{FF2B5EF4-FFF2-40B4-BE49-F238E27FC236}">
                <a16:creationId xmlns:a16="http://schemas.microsoft.com/office/drawing/2014/main" id="{727A2086-B4BB-4117-B317-EDCD31FB8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Q Intelligence · Product &amp; Design Training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40" name="Google Shape;140;p13">
            <a:extLst xmlns:a="http://schemas.openxmlformats.org/drawingml/2006/main">
              <a:ext uri="{FF2B5EF4-FFF2-40B4-BE49-F238E27FC236}">
                <a16:creationId xmlns:a16="http://schemas.microsoft.com/office/drawing/2014/main" id="{7B641BF9-D7EA-45A0-8C74-37626AF1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B5F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141" name="Google Shape;141;p13">
            <a:extLst xmlns:a="http://schemas.openxmlformats.org/drawingml/2006/main">
              <a:ext uri="{FF2B5EF4-FFF2-40B4-BE49-F238E27FC236}">
                <a16:creationId xmlns:a16="http://schemas.microsoft.com/office/drawing/2014/main" id="{F7D09663-73D1-4D52-B175-29381AB143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4cbecb51bc240f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5433012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7" name="Google Shape;147;p14">
            <a:extLst xmlns:a="http://schemas.openxmlformats.org/drawingml/2006/main">
              <a:ext uri="{FF2B5EF4-FFF2-40B4-BE49-F238E27FC236}">
                <a16:creationId xmlns:a16="http://schemas.microsoft.com/office/drawing/2014/main" id="{89311980-1535-4F65-BDD4-31636FBBAB01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8" name="Google Shape;148;p14">
            <a:extLst xmlns:a="http://schemas.openxmlformats.org/drawingml/2006/main">
              <a:ext uri="{FF2B5EF4-FFF2-40B4-BE49-F238E27FC236}">
                <a16:creationId xmlns:a16="http://schemas.microsoft.com/office/drawing/2014/main" id="{7471060F-DD71-49B0-8820-9B9520F8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Practice, assessment and sign-off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49" name="Google Shape;149;p14">
            <a:extLst xmlns:a="http://schemas.openxmlformats.org/drawingml/2006/main">
              <a:ext uri="{FF2B5EF4-FFF2-40B4-BE49-F238E27FC236}">
                <a16:creationId xmlns:a16="http://schemas.microsoft.com/office/drawing/2014/main" id="{EEFAC795-CA85-46B8-A1B4-8C144864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Demonstrate careful, accurate work before taking on independent responsibilities.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50" name="Google Shape;150;p14">
            <a:extLst xmlns:a="http://schemas.openxmlformats.org/drawingml/2006/main">
              <a:ext uri="{FF2B5EF4-FFF2-40B4-BE49-F238E27FC236}">
                <a16:creationId xmlns:a16="http://schemas.microsoft.com/office/drawing/2014/main" id="{426C4ACA-D79D-49C1-A5C2-2BEC3004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User needs and assumptions are clear.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Designs meet agreed accessibility and privacy checks.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Acceptance criteria and hand-offs are usable.</a:t>
            </a:r>
          </a:p>
        </p:txBody>
      </p:sp>
      <p:sp>
        <p:nvSpPr>
          <p:cNvPr id="151" name="Google Shape;151;p14">
            <a:extLst xmlns:a="http://schemas.openxmlformats.org/drawingml/2006/main">
              <a:ext uri="{FF2B5EF4-FFF2-40B4-BE49-F238E27FC236}">
                <a16:creationId xmlns:a16="http://schemas.microsoft.com/office/drawing/2014/main" id="{26DCA0A9-B89E-436F-BE73-9B8D817B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Product &amp; Design Training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52" name="Google Shape;152;p14">
            <a:extLst xmlns:a="http://schemas.openxmlformats.org/drawingml/2006/main">
              <a:ext uri="{FF2B5EF4-FFF2-40B4-BE49-F238E27FC236}">
                <a16:creationId xmlns:a16="http://schemas.microsoft.com/office/drawing/2014/main" id="{B678FB59-6A6B-4996-9B96-A97D146E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153" name="Google Shape;153;p14">
            <a:extLst xmlns:a="http://schemas.openxmlformats.org/drawingml/2006/main">
              <a:ext uri="{FF2B5EF4-FFF2-40B4-BE49-F238E27FC236}">
                <a16:creationId xmlns:a16="http://schemas.microsoft.com/office/drawing/2014/main" id="{B580082D-2F18-49E5-BA23-8809A60045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3e0a3c725ec450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4" name="Google Shape;154;p14">
            <a:extLst xmlns:a="http://schemas.openxmlformats.org/drawingml/2006/main">
              <a:ext uri="{FF2B5EF4-FFF2-40B4-BE49-F238E27FC236}">
                <a16:creationId xmlns:a16="http://schemas.microsoft.com/office/drawing/2014/main" id="{041B9F4B-B6B4-49B6-B2FD-6252A7E1B7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d222a48a54549a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705772" y="6523921"/>
            <a:ext cx="1347448" cy="2139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5" name="Google Shape;155;p14">
            <a:hlinkClick xmlns:r="http://schemas.openxmlformats.org/officeDocument/2006/relationships" xmlns:a="http://schemas.openxmlformats.org/drawingml/2006/main" r:id="R4b72ea691d4e4ea7"/>
            <a:extLst xmlns:a="http://schemas.openxmlformats.org/drawingml/2006/main">
              <a:ext uri="{FF2B5EF4-FFF2-40B4-BE49-F238E27FC236}">
                <a16:creationId xmlns:a16="http://schemas.microsoft.com/office/drawing/2014/main" id="{E4359F24-21DB-4C12-BD47-4FB38B33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5772" y="6523921"/>
            <a:ext cx="1347448" cy="213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9975598"/>
      </p:ext>
    </p:extLst>
  </p:cSld>
</p:sld>
</file>

<file path=ppt/theme/theme1.xml><?xml version="1.0" encoding="utf-8"?>
<a:theme xmlns:a="http://schemas.openxmlformats.org/drawingml/2006/main" name="SlidesAI Simpl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2026-10-19T19:42:18.4130000Z</dcterms:created>
  <dcterms:modified xsi:type="dcterms:W3CDTF">2026-10-19T19:42:18.4130000Z</dcterms:modified>
</coreProperties>
</file>