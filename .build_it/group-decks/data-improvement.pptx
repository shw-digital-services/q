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8754f602dc4b54" /><Relationship Type="http://schemas.openxmlformats.org/officeDocument/2006/relationships/extended-properties" Target="/docProps/app.xml" Id="R7ad38cb69eec4dd8" /><Relationship Type="http://schemas.openxmlformats.org/officeDocument/2006/relationships/officeDocument" Target="/ppt/presentation.xml" Id="R9c0fbf30cd1e413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7c150070f954177"/>
  </p:sldMasterIdLst>
  <p:notesMasterIdLst>
    <p:notesMasterId xmlns:r="http://schemas.openxmlformats.org/officeDocument/2006/relationships" r:id="Rf65c136792af4546"/>
  </p:notesMasterIdLst>
  <p:sldIdLst>
    <p:sldId xmlns:r="http://schemas.openxmlformats.org/officeDocument/2006/relationships" id="256" r:id="R67a06e3e6826422c"/>
    <p:sldId xmlns:r="http://schemas.openxmlformats.org/officeDocument/2006/relationships" id="257" r:id="Rb9d915c845264620"/>
    <p:sldId xmlns:r="http://schemas.openxmlformats.org/officeDocument/2006/relationships" id="258" r:id="Re1156d1c31a24586"/>
    <p:sldId xmlns:r="http://schemas.openxmlformats.org/officeDocument/2006/relationships" id="259" r:id="R1f6d9764a354495f"/>
    <p:sldId xmlns:r="http://schemas.openxmlformats.org/officeDocument/2006/relationships" id="260" r:id="Ra94b5112a4a04b16"/>
    <p:sldId xmlns:r="http://schemas.openxmlformats.org/officeDocument/2006/relationships" id="261" r:id="R2587d8f9cdcf4659"/>
    <p:sldId xmlns:r="http://schemas.openxmlformats.org/officeDocument/2006/relationships" id="262" r:id="R488abbb169e5409e"/>
    <p:sldId xmlns:r="http://schemas.openxmlformats.org/officeDocument/2006/relationships" id="263" r:id="R98d19ba218d64c1d"/>
    <p:sldId xmlns:r="http://schemas.openxmlformats.org/officeDocument/2006/relationships" id="264" r:id="Rceec2ab47fa04a4b"/>
    <p:sldId xmlns:r="http://schemas.openxmlformats.org/officeDocument/2006/relationships" id="265" r:id="Re982703e753e43c6"/>
    <p:sldId xmlns:r="http://schemas.openxmlformats.org/officeDocument/2006/relationships" id="266" r:id="Rd2d29a18b5194405"/>
    <p:sldId xmlns:r="http://schemas.openxmlformats.org/officeDocument/2006/relationships" id="267" r:id="R1cff2d97c8d14121"/>
  </p:sldIdLst>
  <p:sldSz cx="12192000" cy="6858000"/>
  <p:notesSz cx="6858000" cy="9144000"/>
  <p:embeddedFontLst>
    <p:embeddedFont>
      <p:font typeface="Inter"/>
      <p:regular xmlns:r="http://schemas.openxmlformats.org/officeDocument/2006/relationships" r:id="R5fd9ec192a144105"/>
      <p:bold xmlns:r="http://schemas.openxmlformats.org/officeDocument/2006/relationships" r:id="R8bef648a07a649da"/>
      <p:italic xmlns:r="http://schemas.openxmlformats.org/officeDocument/2006/relationships" r:id="Rf36bea7d84fc4e9f"/>
      <p:boldItalic xmlns:r="http://schemas.openxmlformats.org/officeDocument/2006/relationships" r:id="R7d581ac31b1948f0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1eec5cf1e94b51" /><Relationship Type="http://schemas.openxmlformats.org/officeDocument/2006/relationships/slideMaster" Target="/ppt/slideMasters/slideMaster1.xml" Id="R57c150070f954177" /><Relationship Type="http://schemas.openxmlformats.org/officeDocument/2006/relationships/notesMaster" Target="/ppt/notesMasters/notesMaster1.xml" Id="Rf65c136792af4546" /><Relationship Type="http://schemas.openxmlformats.org/officeDocument/2006/relationships/presProps" Target="/ppt/presProps.xml" Id="R6153d648a2e64fe6" /><Relationship Type="http://schemas.openxmlformats.org/officeDocument/2006/relationships/viewProps" Target="/ppt/viewProps.xml" Id="R9f204431f5204077" /><Relationship Type="http://schemas.openxmlformats.org/officeDocument/2006/relationships/tableStyles" Target="/ppt/tableStyles.xml" Id="R965374fdc4134b16" /><Relationship Type="http://schemas.openxmlformats.org/officeDocument/2006/relationships/font" Target="/ppt/fonts/font.dat" Id="R5fd9ec192a144105" /><Relationship Type="http://schemas.openxmlformats.org/officeDocument/2006/relationships/font" Target="/ppt/fonts/font2.dat" Id="R8bef648a07a649da" /><Relationship Type="http://schemas.openxmlformats.org/officeDocument/2006/relationships/font" Target="/ppt/fonts/font3.dat" Id="Rf36bea7d84fc4e9f" /><Relationship Type="http://schemas.openxmlformats.org/officeDocument/2006/relationships/font" Target="/ppt/fonts/font4.dat" Id="R7d581ac31b1948f0" /><Relationship Type="http://schemas.openxmlformats.org/officeDocument/2006/relationships/slide" Target="/ppt/slides/slide1.xml" Id="R67a06e3e6826422c" /><Relationship Type="http://schemas.openxmlformats.org/officeDocument/2006/relationships/slide" Target="/ppt/slides/slide2.xml" Id="Rb9d915c845264620" /><Relationship Type="http://schemas.openxmlformats.org/officeDocument/2006/relationships/slide" Target="/ppt/slides/slide3.xml" Id="Re1156d1c31a24586" /><Relationship Type="http://schemas.openxmlformats.org/officeDocument/2006/relationships/slide" Target="/ppt/slides/slide4.xml" Id="R1f6d9764a354495f" /><Relationship Type="http://schemas.openxmlformats.org/officeDocument/2006/relationships/slide" Target="/ppt/slides/slide5.xml" Id="Ra94b5112a4a04b16" /><Relationship Type="http://schemas.openxmlformats.org/officeDocument/2006/relationships/slide" Target="/ppt/slides/slide6.xml" Id="R2587d8f9cdcf4659" /><Relationship Type="http://schemas.openxmlformats.org/officeDocument/2006/relationships/slide" Target="/ppt/slides/slide7.xml" Id="R488abbb169e5409e" /><Relationship Type="http://schemas.openxmlformats.org/officeDocument/2006/relationships/slide" Target="/ppt/slides/slide8.xml" Id="R98d19ba218d64c1d" /><Relationship Type="http://schemas.openxmlformats.org/officeDocument/2006/relationships/slide" Target="/ppt/slides/slide9.xml" Id="Rceec2ab47fa04a4b" /><Relationship Type="http://schemas.openxmlformats.org/officeDocument/2006/relationships/slide" Target="/ppt/slides/slide10.xml" Id="Re982703e753e43c6" /><Relationship Type="http://schemas.openxmlformats.org/officeDocument/2006/relationships/slide" Target="/ppt/slides/slide11.xml" Id="Rd2d29a18b5194405" /><Relationship Type="http://schemas.openxmlformats.org/officeDocument/2006/relationships/slide" Target="/ppt/slides/slide12.xml" Id="R1cff2d97c8d141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ac8e15d564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2e163e05f14ae9" /><Relationship Type="http://schemas.openxmlformats.org/officeDocument/2006/relationships/notesMaster" Target="/ppt/notesMasters/notesMaster1.xml" Id="Ra5d85e6cbbd84e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0308b0ca24000" /><Relationship Type="http://schemas.openxmlformats.org/officeDocument/2006/relationships/notesMaster" Target="/ppt/notesMasters/notesMaster1.xml" Id="R66059e03216245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988e4ec2c849a7" /><Relationship Type="http://schemas.openxmlformats.org/officeDocument/2006/relationships/notesMaster" Target="/ppt/notesMasters/notesMaster1.xml" Id="Rf692a5a86f3641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5310e80fcd4348" /><Relationship Type="http://schemas.openxmlformats.org/officeDocument/2006/relationships/notesMaster" Target="/ppt/notesMasters/notesMaster1.xml" Id="Rab74f04a99a24e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82038d8a794eea" /><Relationship Type="http://schemas.openxmlformats.org/officeDocument/2006/relationships/notesMaster" Target="/ppt/notesMasters/notesMaster1.xml" Id="R81caaf584cc548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7ee21a7af84170" /><Relationship Type="http://schemas.openxmlformats.org/officeDocument/2006/relationships/notesMaster" Target="/ppt/notesMasters/notesMaster1.xml" Id="R6786acdc910040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54286da45e4898" /><Relationship Type="http://schemas.openxmlformats.org/officeDocument/2006/relationships/notesMaster" Target="/ppt/notesMasters/notesMaster1.xml" Id="Ra079172bc10847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5f7c083cc24399" /><Relationship Type="http://schemas.openxmlformats.org/officeDocument/2006/relationships/notesMaster" Target="/ppt/notesMasters/notesMaster1.xml" Id="R5c1e193dda0e48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1fb56c20c342d0" /><Relationship Type="http://schemas.openxmlformats.org/officeDocument/2006/relationships/notesMaster" Target="/ppt/notesMasters/notesMaster1.xml" Id="R4630745dec1145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03e86dafc74054" /><Relationship Type="http://schemas.openxmlformats.org/officeDocument/2006/relationships/notesMaster" Target="/ppt/notesMasters/notesMaster1.xml" Id="Rd5e902cc0a7541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c4036029dd4bfc" /><Relationship Type="http://schemas.openxmlformats.org/officeDocument/2006/relationships/notesMaster" Target="/ppt/notesMasters/notesMaster1.xml" Id="R96ac0f8a5b9b4e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5e2ebb279041d7" /><Relationship Type="http://schemas.openxmlformats.org/officeDocument/2006/relationships/notesMaster" Target="/ppt/notesMasters/notesMaster1.xml" Id="R143568aa583d47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Welcome agents and explain how their work supports a respectful, reliable customer experience.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Set expectations for participation, questions and asking for help.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Pair introductions: each person shares one service quality they value as a customer and </a:t>
            </a:r>
            <a:r>
              <a:t>one behavior </a:t>
            </a:r>
            <a:r>
              <a:t>that demonstrates it. Invite a few examples; no personal wellbeing disclosures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Q as a secure platform combining technology, wellbeing tools, guided support and personal growth resources.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visible features listed here: mood tracking, journaling, guided support and reflection resources. Avoid promising clinical outcomes or features not shown in approved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pairs, give a 30-second plain-language explanation of Q to a new user. Partners identify one clear phrase and one point that needs approved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Connect personal pace, access to support, trust, privacy and wellbeing to everyday service choices.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agents to consider how an interaction can respect a customer’s own goals without directing or judging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each value on the slide, ask pairs to name one observable support behaviour that would demonstrate it. Share one example per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morning, afternoon and finish, showing how the topics build from safe principles to practice.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practice and sign-off are opportunities to identify support needs, not a reason to guess when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each learner to choose one topic they feel confident about and one they want to practise. Capture the latter for coaching later in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Emphasise listening, non-judgement, accurate approved information and staying within training and access.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Distinguish helpful service from counselling, diagnosis, personal opinions or making commitments outside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Read three short statements aloud: “I can show you where to find that setting”; “It sounds like you have depression”; “I’ll guarantee this is fixed today.” Learners classify as in role or out of role and rewrite the out-of-role replies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pause is appropriate when identity, access, risk or the correct next step is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Escalation protects the customer and agent; use the designated route and share only relevant facts. Do not promise an outcome or investigate beyond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Scenario sort: learners label each case “continue”, “pause and check” or “escalate”: uncertain account identity; request for a feature walkthrough; report of a security concern; question asking for a legal interpretation. Discuss the route specified by local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information only for a clear support purpose and only what is needed.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records factual, respectful and in approved systems; route rights or legal questions to the designated contact rather than deciding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Show a fictional over-detailed case note. Ask learners to remove irrelevant personal details and rewrite it as a concise, factual record. Discuss what should be routed instead of answered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Reinforce never requesting passwords, one-time codes, reset links, journals, mood logs or private-chat screenshots.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recipient, attachments and quoted history before sending; keep customer information in approved tools.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“Spot the risk” email review: provide a fictional message containing a wrong recipient, unnecessary screenshot and quoted customer history. Learners identify each risk and state the safe correction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Treat suspected disclosure, account compromise or unusual access as a concern to report promptly through the designated incident route.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Recognise a rights request even when phrased informally; acknowledge it and route it to the designated privacy contact. Do not delete, export or promise a deadline unless procedure authorises it.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triads, role-play an agent receiving (1) a suspected account compromise and (2) a request to see or erase personal information. Practise acknowledging, recording only necessary facts and routing without making a determination.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Demonstrate the platform areas named in the approved environment: mood tracking, journaling, guided programmes, memory features and user settings.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agents should guide navigation, not inspect or request private wellbeing content. Confirm any uncertain feature details against current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learners a guided “find the setting” task in a training or demo account. Ask them to describe the navigation steps without opening or discussing personal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what a feature does in neutral, plain language and explain its limits using approved wording.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Do not interpret mood entries, infer diagnoses or claim that a feature will produce a particular wellbeing result.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Learners rewrite two overclaims into safe explanations: “This will cure your anxiety” and “I can tell from your mood log what is wrong.” Ask them to keep the explanation useful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Warmth and empathy can coexist with clear professional boundaries.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Acknowledge feelings without probing for intimate details; offer an appropriate platform or support route and escalate concerns using procedure.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Role-play a customer asking the agent to interpret a journal entry. Practise a brief empathic boundary statement and an appropriate next step; observer gives feedback on tone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202f4a4a041aa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aa8a8f3b314b05" /><Relationship Type="http://schemas.openxmlformats.org/officeDocument/2006/relationships/slideLayout" Target="/ppt/slideLayouts/slideLayout1.xml" Id="R97e53fe275714ef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e53fe275714ef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d909815e04a07" /><Relationship Type="http://schemas.openxmlformats.org/officeDocument/2006/relationships/image" Target="/ppt/media/image.png" Id="R6b7c624a28d94c22" /><Relationship Type="http://schemas.openxmlformats.org/officeDocument/2006/relationships/notesSlide" Target="/ppt/notesSlides/notesSlide1.xml" Id="Rf5eaeb72c65742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30daf80c84883" /><Relationship Type="http://schemas.openxmlformats.org/officeDocument/2006/relationships/image" Target="/ppt/media/image2.png" Id="Rbd522f4463dc4531" /><Relationship Type="http://schemas.openxmlformats.org/officeDocument/2006/relationships/notesSlide" Target="/ppt/notesSlides/notesSlide2.xml" Id="R51e1fe38fa5e4b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4cbbef83d4b69" /><Relationship Type="http://schemas.openxmlformats.org/officeDocument/2006/relationships/image" Target="/ppt/media/image2.png" Id="Re08af2352ba94808" /><Relationship Type="http://schemas.openxmlformats.org/officeDocument/2006/relationships/notesSlide" Target="/ppt/notesSlides/notesSlide3.xml" Id="R2e5ae05a4cb347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fd623f95d405e" /><Relationship Type="http://schemas.openxmlformats.org/officeDocument/2006/relationships/image" Target="/ppt/media/image2.png" Id="Rc18d1bdfa1804c29" /><Relationship Type="http://schemas.openxmlformats.org/officeDocument/2006/relationships/notesSlide" Target="/ppt/notesSlides/notesSlide4.xml" Id="R4f5ecae6a99145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6f115f5644403" /><Relationship Type="http://schemas.openxmlformats.org/officeDocument/2006/relationships/image" Target="/ppt/media/image2.png" Id="Rbd688ffb7371490b" /><Relationship Type="http://schemas.openxmlformats.org/officeDocument/2006/relationships/notesSlide" Target="/ppt/notesSlides/notesSlide5.xml" Id="R983ac543e46a40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7f6eb7f8f405d" /><Relationship Type="http://schemas.openxmlformats.org/officeDocument/2006/relationships/image" Target="/ppt/media/image2.png" Id="R3583b81d17fb472b" /><Relationship Type="http://schemas.openxmlformats.org/officeDocument/2006/relationships/notesSlide" Target="/ppt/notesSlides/notesSlide6.xml" Id="Rbddabeec6deb44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921014abc423e" /><Relationship Type="http://schemas.openxmlformats.org/officeDocument/2006/relationships/image" Target="/ppt/media/image2.png" Id="R87a4cd5393064512" /><Relationship Type="http://schemas.openxmlformats.org/officeDocument/2006/relationships/notesSlide" Target="/ppt/notesSlides/notesSlide7.xml" Id="Re3de0b5b57b941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e72d5582a497c" /><Relationship Type="http://schemas.openxmlformats.org/officeDocument/2006/relationships/image" Target="/ppt/media/image2.png" Id="R541c23c78b384a16" /><Relationship Type="http://schemas.openxmlformats.org/officeDocument/2006/relationships/notesSlide" Target="/ppt/notesSlides/notesSlide8.xml" Id="Rfee99491e6c240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e88c88ba046d5" /><Relationship Type="http://schemas.openxmlformats.org/officeDocument/2006/relationships/image" Target="/ppt/media/image2.png" Id="Rdefadbc7b96c48a9" /><Relationship Type="http://schemas.openxmlformats.org/officeDocument/2006/relationships/notesSlide" Target="/ppt/notesSlides/notesSlide9.xml" Id="R9361e4c1a07541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0b72860674722" /><Relationship Type="http://schemas.openxmlformats.org/officeDocument/2006/relationships/image" Target="/ppt/media/image2.png" Id="R712570a8f6d64ba9" /><Relationship Type="http://schemas.openxmlformats.org/officeDocument/2006/relationships/notesSlide" Target="/ppt/notesSlides/notesSlide10.xml" Id="R2fd2bc0713154e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b60a70bc14340" /><Relationship Type="http://schemas.openxmlformats.org/officeDocument/2006/relationships/image" Target="/ppt/media/image2.png" Id="Rd5e9de993d864320" /><Relationship Type="http://schemas.openxmlformats.org/officeDocument/2006/relationships/notesSlide" Target="/ppt/notesSlides/notesSlide11.xml" Id="Rebf5d68038a941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3a1ff1f224d82" /><Relationship Type="http://schemas.openxmlformats.org/officeDocument/2006/relationships/image" Target="/ppt/media/image2.png" Id="Rc6f2d182f5eb4472" /><Relationship Type="http://schemas.openxmlformats.org/officeDocument/2006/relationships/image" Target="/ppt/media/image3.png" Id="Rb6a1927d76cb49ae" /><Relationship Type="http://schemas.openxmlformats.org/officeDocument/2006/relationships/hyperlink" Target="https://slidesai.io/?utm_source=export&amp;utm_medium=pptx" TargetMode="External" Id="Rcf09202a6d9c453b" /><Relationship Type="http://schemas.openxmlformats.org/officeDocument/2006/relationships/notesSlide" Target="/ppt/notesSlides/notesSlide12.xml" Id="R75caacfa53c14a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0B2A466-20D2-4165-BAD2-23427FF860A8}"/>
              </a:ext>
            </a:extLst>
          </p:cNvPr>
          <p:cNvCxnSpPr/>
          <p:nvPr/>
        </p:nvCxnSpPr>
        <p:spPr>
          <a:xfrm xmlns:a="http://schemas.openxmlformats.org/drawingml/2006/main">
            <a:off x="876300" y="9096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1014D3-89A8-4C37-B759-389CCB6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043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Data &amp; Improvement</a:t>
            </a: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Training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274046-F035-4BEA-B44E-229D5E3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D6FF"/>
              </a:buClr>
              <a:buSzPts val="2250"/>
              <a:buFont typeface="Inter"/>
              <a:buNone/>
            </a:pPr>
            <a:r>
              <a:rPr sz="2250" b="0" i="0" u="none" strike="noStrike" cap="none">
                <a:solidFill>
                  <a:srgbClr val="E2D6FF"/>
                </a:solidFill>
                <a:latin typeface="Inter"/>
                <a:ea typeface="Inter"/>
                <a:cs typeface="Inter"/>
              </a:rPr>
              <a:t>A practical introduction to the data &amp; improvement roles at Q.</a:t>
            </a:r>
            <a:endParaRPr sz="225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D268EF1-3461-4679-8785-4F3584D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3901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80"/>
              <a:buFont typeface="Inter"/>
              <a:buNone/>
            </a:pPr>
            <a:r>
              <a:rPr sz="158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</a:t>
            </a:r>
            <a:endParaRPr sz="15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CAA748-1580-4718-95ED-0A8986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2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0D5791A0-30DB-40B3-983A-E9654584B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7c624a28d94c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48850" y="1790700"/>
            <a:ext cx="1924050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5165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1BB6DA62-081E-4050-8126-CAD921DC41E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896E2CE-057A-4CD3-AB96-4ADF76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 group purpose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CD6598E-D24B-42A4-B46D-258DA0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Turn reliable evidence into useful learning while protecting the people represented in the data.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48829BF-09DD-4377-B5EC-60A059F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Measure service and product performance, check quality and support sound improvement decisions.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Roles in this group: Data or Insights Analyst, Quality &amp; Compliance Coordinator.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E240636-00C2-4A0B-B096-6D97D56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B94B37-4A42-432C-B6A6-A342391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91776C7F-0D92-4938-9E24-3259066A1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522f4463dc45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089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CBCEC67C-DC98-46CF-A839-0953937ACD07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1BEEDCF-9556-4BEC-AC52-3E844D1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Q’s mission and values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C87B0E37-740F-48AE-A981-7CB5B3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Apply trust, privacy and wellbeing to everyday work.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0B1C1BD5-0FDC-4A69-BA0B-88C57DD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Support people at their own pace.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support available when it is needed.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Put trust, privacy and user wellbeing at the centre.</a:t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7C359D1-562B-47D1-8163-D4DE00B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5321BE0-D4A1-4B40-A70A-1765986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57E7F0F2-F61D-4C40-BF39-B13A1DDF7E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8af2352ba948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22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F952783-694C-448F-BAA1-0975E1A7CE07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C498A30F-3A34-4295-B1EF-D5667B3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Responsibilities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9E54A5F2-0237-454A-B4A1-C114ECB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Know what the group owns, what needs review and what must be escalated.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2E21B003-7731-4668-A211-0479C89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Define measures and data requirements.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Check data quality, context and limitations.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Share findings and track agreed improvement actions.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5374D75-83E0-4354-9064-4B54A60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DE137094-7FF5-4BF1-B0A9-271D9D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9767FD8A-1B66-47DA-9956-8FDF3C1E4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8d1bdfa1804c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80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83FEDC04-7AD3-437D-9A7F-B656B2ECE924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2E8DB0B-BF10-4B1B-B199-C7E1CA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Planning and priorities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3347FBC0-74EB-4458-BFC5-44062F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Use impact, evidence and agreed criteria to decide what comes first.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EE90F1AB-D9E9-4EF8-AAD7-8378A83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Start with the decision or question the analysis must support.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Balance usefulness, reliability and privacy.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assumptions, gaps and uncertainty visible.</a:t>
            </a:r>
          </a:p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80B12499-A067-477B-80D2-A66480D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18592D3C-017B-4D23-A133-8DA2D4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88C8A25F-0EE7-47E5-A75D-2FA6B9ED9B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688ffb737149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85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0F599BD2-D58A-4EBC-9C42-C632F5735201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0708B561-51A0-4BA5-B446-58A8CFD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Design for the people Q serves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472FE18F-023D-4D71-8825-7249E51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Make decisions with inclusion, accessibility and user trust in view.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93839D5E-7C76-42F7-BC7B-837451B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Consider who may be missing or misrepresented.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appropriate aggregation and accessibility.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Avoid stigmatising or deficit-based interpretations.</a:t>
            </a:r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703ED4B6-E020-4626-8634-C703968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37286126-C26A-4A6D-8B86-F3E17AD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E698B402-5426-42D2-AB48-E4E8970B5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83b81d17fb47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645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7A412E4C-A699-491F-88B5-22787D540A10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9">
            <a:extLst xmlns:a="http://schemas.openxmlformats.org/drawingml/2006/main">
              <a:ext uri="{FF2B5EF4-FFF2-40B4-BE49-F238E27FC236}">
                <a16:creationId xmlns:a16="http://schemas.microsoft.com/office/drawing/2014/main" id="{5807D283-DA14-41D2-AD47-F0B8E9B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Privacy and information handling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9" name="Google Shape;89;p9">
            <a:extLst xmlns:a="http://schemas.openxmlformats.org/drawingml/2006/main">
              <a:ext uri="{FF2B5EF4-FFF2-40B4-BE49-F238E27FC236}">
                <a16:creationId xmlns:a16="http://schemas.microsoft.com/office/drawing/2014/main" id="{F406AA3A-6AAA-4851-8848-38B290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only the information needed for an authorised purpose.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0" name="Google Shape;90;p9">
            <a:extLst xmlns:a="http://schemas.openxmlformats.org/drawingml/2006/main">
              <a:ext uri="{FF2B5EF4-FFF2-40B4-BE49-F238E27FC236}">
                <a16:creationId xmlns:a16="http://schemas.microsoft.com/office/drawing/2014/main" id="{97B3F973-A919-45DF-B6F4-442CBB2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datasets and access permissions.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Minimise, aggregate or de-identify data where appropriate.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Follow retention, sharing and correction procedures.</a:t>
            </a:r>
          </a:p>
        </p:txBody>
      </p:sp>
      <p:sp>
        <p:nvSpPr>
          <p:cNvPr id="91" name="Google Shape;91;p9">
            <a:extLst xmlns:a="http://schemas.openxmlformats.org/drawingml/2006/main">
              <a:ext uri="{FF2B5EF4-FFF2-40B4-BE49-F238E27FC236}">
                <a16:creationId xmlns:a16="http://schemas.microsoft.com/office/drawing/2014/main" id="{BF9BBE0A-09A8-4555-B048-3F4673B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2" name="Google Shape;92;p9">
            <a:extLst xmlns:a="http://schemas.openxmlformats.org/drawingml/2006/main">
              <a:ext uri="{FF2B5EF4-FFF2-40B4-BE49-F238E27FC236}">
                <a16:creationId xmlns:a16="http://schemas.microsoft.com/office/drawing/2014/main" id="{F13080D0-0104-4E5C-9DDE-4416BD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ACFD833C-FDE5-4F3E-B947-4FAB22ECF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a4cd53930645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82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9;p10">
            <a:extLst xmlns:a="http://schemas.openxmlformats.org/drawingml/2006/main">
              <a:ext uri="{FF2B5EF4-FFF2-40B4-BE49-F238E27FC236}">
                <a16:creationId xmlns:a16="http://schemas.microsoft.com/office/drawing/2014/main" id="{D416B9DA-C486-4C83-9FD5-96B69CB5F291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>
            <a:extLst xmlns:a="http://schemas.openxmlformats.org/drawingml/2006/main">
              <a:ext uri="{FF2B5EF4-FFF2-40B4-BE49-F238E27FC236}">
                <a16:creationId xmlns:a16="http://schemas.microsoft.com/office/drawing/2014/main" id="{B40AB0A5-9ED9-4738-808A-6B4E13C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Security and safe systems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AFC6EA5E-0451-4C6B-98F1-0BDCB2D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Protect accounts, assets, content and work records.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78CCA798-D69F-4923-9AC6-C72452C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Store and share outputs in approved locations.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Limit access to the intended audience.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Report suspected data exposure promptly.</a:t>
            </a:r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E1C66EBC-F1C7-43D9-900C-E842DA8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5DF53ADC-0A8E-4AB8-9BCA-B18FA2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5" name="Google Shape;105;p10">
            <a:extLst xmlns:a="http://schemas.openxmlformats.org/drawingml/2006/main">
              <a:ext uri="{FF2B5EF4-FFF2-40B4-BE49-F238E27FC236}">
                <a16:creationId xmlns:a16="http://schemas.microsoft.com/office/drawing/2014/main" id="{1392164D-1E7D-4EFE-A347-4F292435A9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1c23c78b384a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5929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969AA58C-14D1-4EAD-BAEA-F4D43E253D2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BB52F5D2-3DEF-43B6-8E41-4027E26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Tools, workflows and records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4FE7294D-B6F3-4F56-B3A3-0BFA9A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approved tools and leave work traceable for colleagues.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373BF450-BFCB-47B1-865F-AAF7AA9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Define source, method and checks before analysis.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a reproducible record of transformations.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Review output with the accountable subject owner before use.</a:t>
            </a:r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E0B51D5F-67B8-4729-85D2-5D79B6F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F3B4E15B-8D04-4181-9CEC-6632E21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C6B30589-A880-4668-BF77-E1501E58A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fadbc7b96c48a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204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" name="Google Shape;123;p12">
            <a:extLst xmlns:a="http://schemas.openxmlformats.org/drawingml/2006/main">
              <a:ext uri="{FF2B5EF4-FFF2-40B4-BE49-F238E27FC236}">
                <a16:creationId xmlns:a16="http://schemas.microsoft.com/office/drawing/2014/main" id="{B8DD4EDA-7978-4F99-ADAA-394A52044D67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2">
            <a:extLst xmlns:a="http://schemas.openxmlformats.org/drawingml/2006/main">
              <a:ext uri="{FF2B5EF4-FFF2-40B4-BE49-F238E27FC236}">
                <a16:creationId xmlns:a16="http://schemas.microsoft.com/office/drawing/2014/main" id="{FEF98001-283A-436B-94F0-26390B6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Collaboration and communication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5" name="Google Shape;125;p12">
            <a:extLst xmlns:a="http://schemas.openxmlformats.org/drawingml/2006/main">
              <a:ext uri="{FF2B5EF4-FFF2-40B4-BE49-F238E27FC236}">
                <a16:creationId xmlns:a16="http://schemas.microsoft.com/office/drawing/2014/main" id="{6E468CDF-917C-4DE5-98AC-B9024BC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Coordinate work clearly across teams and with the people affected.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6" name="Google Shape;126;p12">
            <a:extLst xmlns:a="http://schemas.openxmlformats.org/drawingml/2006/main">
              <a:ext uri="{FF2B5EF4-FFF2-40B4-BE49-F238E27FC236}">
                <a16:creationId xmlns:a16="http://schemas.microsoft.com/office/drawing/2014/main" id="{C4505444-F0C7-40F1-AD11-AF48AF8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Work with product, support, leadership and privacy colleagues.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Confirm definitions with the people who own the process.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Translate results into clear actions and limitations.</a:t>
            </a:r>
          </a:p>
        </p:txBody>
      </p:sp>
      <p:sp>
        <p:nvSpPr>
          <p:cNvPr id="127" name="Google Shape;127;p12">
            <a:extLst xmlns:a="http://schemas.openxmlformats.org/drawingml/2006/main">
              <a:ext uri="{FF2B5EF4-FFF2-40B4-BE49-F238E27FC236}">
                <a16:creationId xmlns:a16="http://schemas.microsoft.com/office/drawing/2014/main" id="{CCE26D17-E053-40A1-8C7E-B28B869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8" name="Google Shape;128;p12">
            <a:extLst xmlns:a="http://schemas.openxmlformats.org/drawingml/2006/main">
              <a:ext uri="{FF2B5EF4-FFF2-40B4-BE49-F238E27FC236}">
                <a16:creationId xmlns:a16="http://schemas.microsoft.com/office/drawing/2014/main" id="{69590FF4-6382-4D4D-B03F-9BF839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7196036B-B983-4F28-8D82-C54998369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2570a8f6d64ba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066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40D9807A-1DAA-44FE-954B-6D3057DB56D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13">
            <a:extLst xmlns:a="http://schemas.openxmlformats.org/drawingml/2006/main">
              <a:ext uri="{FF2B5EF4-FFF2-40B4-BE49-F238E27FC236}">
                <a16:creationId xmlns:a16="http://schemas.microsoft.com/office/drawing/2014/main" id="{7BC61D08-7A4D-4387-B949-DF3D0B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Risk, escalation and incidents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7" name="Google Shape;137;p13">
            <a:extLst xmlns:a="http://schemas.openxmlformats.org/drawingml/2006/main">
              <a:ext uri="{FF2B5EF4-FFF2-40B4-BE49-F238E27FC236}">
                <a16:creationId xmlns:a16="http://schemas.microsoft.com/office/drawing/2014/main" id="{C5180E71-D4D9-45CB-8EEC-3135B9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Recognise when normal work must pause for review or escalation.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" name="Google Shape;138;p13">
            <a:extLst xmlns:a="http://schemas.openxmlformats.org/drawingml/2006/main">
              <a:ext uri="{FF2B5EF4-FFF2-40B4-BE49-F238E27FC236}">
                <a16:creationId xmlns:a16="http://schemas.microsoft.com/office/drawing/2014/main" id="{49C7850D-C271-45F0-9A6D-5469ADA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Poor data quality, re-identification, misleading metrics, unfair comparison and unsupported conclusions.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9" name="Google Shape;139;p13">
            <a:extLst xmlns:a="http://schemas.openxmlformats.org/drawingml/2006/main">
              <a:ext uri="{FF2B5EF4-FFF2-40B4-BE49-F238E27FC236}">
                <a16:creationId xmlns:a16="http://schemas.microsoft.com/office/drawing/2014/main" id="{727A2086-B4BB-4117-B317-EDCD31F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0" name="Google Shape;140;p13">
            <a:extLst xmlns:a="http://schemas.openxmlformats.org/drawingml/2006/main">
              <a:ext uri="{FF2B5EF4-FFF2-40B4-BE49-F238E27FC236}">
                <a16:creationId xmlns:a16="http://schemas.microsoft.com/office/drawing/2014/main" id="{7B641BF9-D7EA-45A0-8C74-37626AF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1" name="Google Shape;141;p13">
            <a:extLst xmlns:a="http://schemas.openxmlformats.org/drawingml/2006/main">
              <a:ext uri="{FF2B5EF4-FFF2-40B4-BE49-F238E27FC236}">
                <a16:creationId xmlns:a16="http://schemas.microsoft.com/office/drawing/2014/main" id="{C590E872-81CA-487A-A32F-397B83773C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e9de993d8643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4330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" name="Google Shape;147;p14">
            <a:extLst xmlns:a="http://schemas.openxmlformats.org/drawingml/2006/main">
              <a:ext uri="{FF2B5EF4-FFF2-40B4-BE49-F238E27FC236}">
                <a16:creationId xmlns:a16="http://schemas.microsoft.com/office/drawing/2014/main" id="{6DC3F931-E2BE-4B1E-B325-579A97EDC0E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4">
            <a:extLst xmlns:a="http://schemas.openxmlformats.org/drawingml/2006/main">
              <a:ext uri="{FF2B5EF4-FFF2-40B4-BE49-F238E27FC236}">
                <a16:creationId xmlns:a16="http://schemas.microsoft.com/office/drawing/2014/main" id="{7471060F-DD71-49B0-8820-9B9520F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Practice, assessment and sign-off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9" name="Google Shape;149;p14">
            <a:extLst xmlns:a="http://schemas.openxmlformats.org/drawingml/2006/main">
              <a:ext uri="{FF2B5EF4-FFF2-40B4-BE49-F238E27FC236}">
                <a16:creationId xmlns:a16="http://schemas.microsoft.com/office/drawing/2014/main" id="{EEFAC795-CA85-46B8-A1B4-8C14486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Demonstrate careful, accurate work before taking on independent responsibilities.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0" name="Google Shape;150;p14">
            <a:extLst xmlns:a="http://schemas.openxmlformats.org/drawingml/2006/main">
              <a:ext uri="{FF2B5EF4-FFF2-40B4-BE49-F238E27FC236}">
                <a16:creationId xmlns:a16="http://schemas.microsoft.com/office/drawing/2014/main" id="{426C4ACA-D79D-49C1-A5C2-2BEC30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Sources and definitions are clear.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Privacy and quality checks are documented.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Findings state limitations and lead to owned actions.</a:t>
            </a:r>
          </a:p>
        </p:txBody>
      </p:sp>
      <p:sp>
        <p:nvSpPr>
          <p:cNvPr id="151" name="Google Shape;151;p14">
            <a:extLst xmlns:a="http://schemas.openxmlformats.org/drawingml/2006/main">
              <a:ext uri="{FF2B5EF4-FFF2-40B4-BE49-F238E27FC236}">
                <a16:creationId xmlns:a16="http://schemas.microsoft.com/office/drawing/2014/main" id="{26DCA0A9-B89E-436F-BE73-9B8D817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Data &amp; Improvement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2" name="Google Shape;152;p14">
            <a:extLst xmlns:a="http://schemas.openxmlformats.org/drawingml/2006/main">
              <a:ext uri="{FF2B5EF4-FFF2-40B4-BE49-F238E27FC236}">
                <a16:creationId xmlns:a16="http://schemas.microsoft.com/office/drawing/2014/main" id="{B678FB59-6A6B-4996-9B96-A97D146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" name="Google Shape;153;p14">
            <a:extLst xmlns:a="http://schemas.openxmlformats.org/drawingml/2006/main">
              <a:ext uri="{FF2B5EF4-FFF2-40B4-BE49-F238E27FC236}">
                <a16:creationId xmlns:a16="http://schemas.microsoft.com/office/drawing/2014/main" id="{9B823C02-99E8-45E4-8611-7EBEC592BA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f2d182f5eb44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54;p14">
            <a:extLst xmlns:a="http://schemas.openxmlformats.org/drawingml/2006/main">
              <a:ext uri="{FF2B5EF4-FFF2-40B4-BE49-F238E27FC236}">
                <a16:creationId xmlns:a16="http://schemas.microsoft.com/office/drawing/2014/main" id="{AF5E243A-2E5E-4CB2-B75E-CEDB559901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a1927d76cb49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4">
            <a:hlinkClick xmlns:r="http://schemas.openxmlformats.org/officeDocument/2006/relationships" xmlns:a="http://schemas.openxmlformats.org/drawingml/2006/main" r:id="Rcf09202a6d9c453b"/>
            <a:extLst xmlns:a="http://schemas.openxmlformats.org/drawingml/2006/main">
              <a:ext uri="{FF2B5EF4-FFF2-40B4-BE49-F238E27FC236}">
                <a16:creationId xmlns:a16="http://schemas.microsoft.com/office/drawing/2014/main" id="{E4359F24-21DB-4C12-BD47-4FB38B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975598"/>
      </p:ext>
    </p:extLst>
  </p:cSld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2026-10-19T19:42:22.3730000Z</dcterms:created>
  <dcterms:modified xsi:type="dcterms:W3CDTF">2026-10-19T19:42:22.3730000Z</dcterms:modified>
</coreProperties>
</file>