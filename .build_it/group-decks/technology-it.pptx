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360b7c8b444114" /><Relationship Type="http://schemas.openxmlformats.org/officeDocument/2006/relationships/extended-properties" Target="/docProps/app.xml" Id="R736f499e73444860" /><Relationship Type="http://schemas.openxmlformats.org/officeDocument/2006/relationships/officeDocument" Target="/ppt/presentation.xml" Id="Rde3d67161ebd499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d7f1999bac34bd6"/>
  </p:sldMasterIdLst>
  <p:notesMasterIdLst>
    <p:notesMasterId xmlns:r="http://schemas.openxmlformats.org/officeDocument/2006/relationships" r:id="R093860f6d5a44d78"/>
  </p:notesMasterIdLst>
  <p:sldIdLst>
    <p:sldId xmlns:r="http://schemas.openxmlformats.org/officeDocument/2006/relationships" id="256" r:id="R828b4a645d42454d"/>
    <p:sldId xmlns:r="http://schemas.openxmlformats.org/officeDocument/2006/relationships" id="257" r:id="Ra81acef03f2e4977"/>
    <p:sldId xmlns:r="http://schemas.openxmlformats.org/officeDocument/2006/relationships" id="258" r:id="R3501e25f1d334059"/>
    <p:sldId xmlns:r="http://schemas.openxmlformats.org/officeDocument/2006/relationships" id="259" r:id="R4306ad85a8ea4323"/>
    <p:sldId xmlns:r="http://schemas.openxmlformats.org/officeDocument/2006/relationships" id="260" r:id="Rb21c24ac72424555"/>
    <p:sldId xmlns:r="http://schemas.openxmlformats.org/officeDocument/2006/relationships" id="261" r:id="Rcdf052a1495c45c9"/>
    <p:sldId xmlns:r="http://schemas.openxmlformats.org/officeDocument/2006/relationships" id="262" r:id="R3ff113fc02d4429a"/>
    <p:sldId xmlns:r="http://schemas.openxmlformats.org/officeDocument/2006/relationships" id="263" r:id="R8138203b9ea4420c"/>
    <p:sldId xmlns:r="http://schemas.openxmlformats.org/officeDocument/2006/relationships" id="264" r:id="Rc5de53a3a3494017"/>
    <p:sldId xmlns:r="http://schemas.openxmlformats.org/officeDocument/2006/relationships" id="265" r:id="R017dd4cb53644b34"/>
    <p:sldId xmlns:r="http://schemas.openxmlformats.org/officeDocument/2006/relationships" id="266" r:id="Rc517f08acf3b420e"/>
    <p:sldId xmlns:r="http://schemas.openxmlformats.org/officeDocument/2006/relationships" id="267" r:id="R6b9a8c131fe74901"/>
  </p:sldIdLst>
  <p:sldSz cx="12192000" cy="6858000"/>
  <p:notesSz cx="6858000" cy="9144000"/>
  <p:embeddedFontLst>
    <p:embeddedFont>
      <p:font typeface="Inter"/>
      <p:regular xmlns:r="http://schemas.openxmlformats.org/officeDocument/2006/relationships" r:id="R47e2034c146b45fe"/>
      <p:bold xmlns:r="http://schemas.openxmlformats.org/officeDocument/2006/relationships" r:id="Rbfc65cfeb3c54bbc"/>
      <p:italic xmlns:r="http://schemas.openxmlformats.org/officeDocument/2006/relationships" r:id="R301c33c3f5bc489c"/>
      <p:boldItalic xmlns:r="http://schemas.openxmlformats.org/officeDocument/2006/relationships" r:id="Ra8f3c3de252e4328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b84d711d9f43b2" /><Relationship Type="http://schemas.openxmlformats.org/officeDocument/2006/relationships/slideMaster" Target="/ppt/slideMasters/slideMaster1.xml" Id="R4d7f1999bac34bd6" /><Relationship Type="http://schemas.openxmlformats.org/officeDocument/2006/relationships/notesMaster" Target="/ppt/notesMasters/notesMaster1.xml" Id="R093860f6d5a44d78" /><Relationship Type="http://schemas.openxmlformats.org/officeDocument/2006/relationships/presProps" Target="/ppt/presProps.xml" Id="Rf098b58682924556" /><Relationship Type="http://schemas.openxmlformats.org/officeDocument/2006/relationships/viewProps" Target="/ppt/viewProps.xml" Id="Recd5f91ec78e4010" /><Relationship Type="http://schemas.openxmlformats.org/officeDocument/2006/relationships/tableStyles" Target="/ppt/tableStyles.xml" Id="R7637e7a6dd9d4382" /><Relationship Type="http://schemas.openxmlformats.org/officeDocument/2006/relationships/font" Target="/ppt/fonts/font.dat" Id="R47e2034c146b45fe" /><Relationship Type="http://schemas.openxmlformats.org/officeDocument/2006/relationships/font" Target="/ppt/fonts/font2.dat" Id="Rbfc65cfeb3c54bbc" /><Relationship Type="http://schemas.openxmlformats.org/officeDocument/2006/relationships/font" Target="/ppt/fonts/font3.dat" Id="R301c33c3f5bc489c" /><Relationship Type="http://schemas.openxmlformats.org/officeDocument/2006/relationships/font" Target="/ppt/fonts/font4.dat" Id="Ra8f3c3de252e4328" /><Relationship Type="http://schemas.openxmlformats.org/officeDocument/2006/relationships/slide" Target="/ppt/slides/slide1.xml" Id="R828b4a645d42454d" /><Relationship Type="http://schemas.openxmlformats.org/officeDocument/2006/relationships/slide" Target="/ppt/slides/slide2.xml" Id="Ra81acef03f2e4977" /><Relationship Type="http://schemas.openxmlformats.org/officeDocument/2006/relationships/slide" Target="/ppt/slides/slide3.xml" Id="R3501e25f1d334059" /><Relationship Type="http://schemas.openxmlformats.org/officeDocument/2006/relationships/slide" Target="/ppt/slides/slide4.xml" Id="R4306ad85a8ea4323" /><Relationship Type="http://schemas.openxmlformats.org/officeDocument/2006/relationships/slide" Target="/ppt/slides/slide5.xml" Id="Rb21c24ac72424555" /><Relationship Type="http://schemas.openxmlformats.org/officeDocument/2006/relationships/slide" Target="/ppt/slides/slide6.xml" Id="Rcdf052a1495c45c9" /><Relationship Type="http://schemas.openxmlformats.org/officeDocument/2006/relationships/slide" Target="/ppt/slides/slide7.xml" Id="R3ff113fc02d4429a" /><Relationship Type="http://schemas.openxmlformats.org/officeDocument/2006/relationships/slide" Target="/ppt/slides/slide8.xml" Id="R8138203b9ea4420c" /><Relationship Type="http://schemas.openxmlformats.org/officeDocument/2006/relationships/slide" Target="/ppt/slides/slide9.xml" Id="Rc5de53a3a3494017" /><Relationship Type="http://schemas.openxmlformats.org/officeDocument/2006/relationships/slide" Target="/ppt/slides/slide10.xml" Id="R017dd4cb53644b34" /><Relationship Type="http://schemas.openxmlformats.org/officeDocument/2006/relationships/slide" Target="/ppt/slides/slide11.xml" Id="Rc517f08acf3b420e" /><Relationship Type="http://schemas.openxmlformats.org/officeDocument/2006/relationships/slide" Target="/ppt/slides/slide12.xml" Id="R6b9a8c131fe749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605831747c43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6ff754212849e5" /><Relationship Type="http://schemas.openxmlformats.org/officeDocument/2006/relationships/notesMaster" Target="/ppt/notesMasters/notesMaster1.xml" Id="R5baa41ec6c0948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78f19bf0a44329" /><Relationship Type="http://schemas.openxmlformats.org/officeDocument/2006/relationships/notesMaster" Target="/ppt/notesMasters/notesMaster1.xml" Id="Re374fd148c8a41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55813e46564a66" /><Relationship Type="http://schemas.openxmlformats.org/officeDocument/2006/relationships/notesMaster" Target="/ppt/notesMasters/notesMaster1.xml" Id="R7c49d339289f4a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fd29773a52401b" /><Relationship Type="http://schemas.openxmlformats.org/officeDocument/2006/relationships/notesMaster" Target="/ppt/notesMasters/notesMaster1.xml" Id="R8aa84c1388e947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56424cc8444899" /><Relationship Type="http://schemas.openxmlformats.org/officeDocument/2006/relationships/notesMaster" Target="/ppt/notesMasters/notesMaster1.xml" Id="R502e50b6359f47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a8644619f1468c" /><Relationship Type="http://schemas.openxmlformats.org/officeDocument/2006/relationships/notesMaster" Target="/ppt/notesMasters/notesMaster1.xml" Id="Rabaad39bde054a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567ad958d44253" /><Relationship Type="http://schemas.openxmlformats.org/officeDocument/2006/relationships/notesMaster" Target="/ppt/notesMasters/notesMaster1.xml" Id="R7d3f874aa32947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2e3c45e51e439f" /><Relationship Type="http://schemas.openxmlformats.org/officeDocument/2006/relationships/notesMaster" Target="/ppt/notesMasters/notesMaster1.xml" Id="R63f280e678a34a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4de62ab5b74e5a" /><Relationship Type="http://schemas.openxmlformats.org/officeDocument/2006/relationships/notesMaster" Target="/ppt/notesMasters/notesMaster1.xml" Id="Rf45c7bcb0ad548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ae35d3e016400d" /><Relationship Type="http://schemas.openxmlformats.org/officeDocument/2006/relationships/notesMaster" Target="/ppt/notesMasters/notesMaster1.xml" Id="R9a113297b3f84f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bafa29f9ff4397" /><Relationship Type="http://schemas.openxmlformats.org/officeDocument/2006/relationships/notesMaster" Target="/ppt/notesMasters/notesMaster1.xml" Id="R251afda1537d47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aae3d4e359446c" /><Relationship Type="http://schemas.openxmlformats.org/officeDocument/2006/relationships/notesMaster" Target="/ppt/notesMasters/notesMaster1.xml" Id="R9b98b40976954e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Welcome agents and explain how their work supports a respectful, reliable customer experience.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Set expectations for participation, questions and asking for help.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Pair introductions: each person shares one service quality they value as a customer and </a:t>
            </a:r>
            <a:r>
              <a:t>one behavior </a:t>
            </a:r>
            <a:r>
              <a:t>that demonstrates it. Invite a few examples; no personal wellbeing disclosures are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Q as a secure platform combining technology, wellbeing tools, guided support and personal growth resources.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visible features listed here: mood tracking, journaling, guided support and reflection resources. Avoid promising clinical outcomes or features not shown in approved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pairs, give a 30-second plain-language explanation of Q to a new user. Partners identify one clear phrase and one point that needs approved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Connect personal pace, access to support, trust, privacy and wellbeing to everyday service choices.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agents to consider how an interaction can respect a customer’s own goals without directing or judging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For each value on the slide, ask pairs to name one observable support behaviour that would demonstrate it. Share one example per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morning, afternoon and finish, showing how the topics build from safe principles to practice.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practice and sign-off are opportunities to identify support needs, not a reason to guess when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Ask each learner to choose one topic they feel confident about and one they want to practise. Capture the latter for coaching later in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Emphasise listening, non-judgement, accurate approved information and staying within training and access.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Distinguish helpful service from counselling, diagnosis, personal opinions or making commitments outside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Read three short statements aloud: “I can show you where to find that setting”; “It sounds like you have depression”; “I’ll guarantee this is fixed today.” Learners classify as in role or out of role and rewrite the out-of-role replies safely.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pause is appropriate when identity, access, risk or the correct next step is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Escalation protects the customer and agent; use the designated route and share only relevant facts. Do not promise an outcome or investigate beyond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Scenario sort: learners label each case “continue”, “pause and check” or “escalate”: uncertain account identity; request for a feature walkthrough; report of a security concern; question asking for a legal interpretation. Discuss the route specified by local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information only for a clear support purpose and only what is needed.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records factual, respectful and in approved systems; route rights or legal questions to the designated contact rather than deciding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Show a fictional over-detailed case note. Ask learners to remove irrelevant personal details and rewrite it as a concise, factual record. Discuss what should be routed instead of answered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Reinforce never requesting passwords, one-time codes, reset links, journals, mood logs or private-chat screenshots.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recipient, attachments and quoted history before sending; keep customer information in approved tools.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“Spot the risk” email review: provide a fictional message containing a wrong recipient, unnecessary screenshot and quoted customer history. Learners identify each risk and state the safe correction before sending.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Treat suspected disclosure, account compromise or unusual access as a concern to report promptly through the designated incident route.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Recognise a rights request even when phrased informally; acknowledge it and route it to the designated privacy contact. Do not delete, export or promise a deadline unless procedure authorises it.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triads, role-play an agent receiving (1) a suspected account compromise and (2) a request to see or erase personal information. Practise acknowledging, recording only necessary facts and routing without making a determination.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Demonstrate the platform areas named in the approved environment: mood tracking, journaling, guided programmes, memory features and user settings.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agents should guide navigation, not inspect or request private wellbeing content. Confirm any uncertain feature details against current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learners a guided “find the setting” task in a training or demo account. Ask them to describe the navigation steps without opening or discussing personal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what a feature does in neutral, plain language and explain its limits using approved wording.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Do not interpret mood entries, infer diagnoses or claim that a feature will produce a particular wellbeing result.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Learners rewrite two overclaims into safe explanations: “This will cure your anxiety” and “I can tell from your mood log what is wrong.” Ask them to keep the explanation useful and non-clinical.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Warmth and empathy can coexist with clear professional boundaries.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Acknowledge feelings without probing for intimate details; offer an appropriate platform or support route and escalate concerns using procedure.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Role-play a customer asking the agent to interpret a journal entry. Practise a brief empathic boundary statement and an appropriate next step; observer gives feedback on tone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a552f3fe74870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dd07a5918d4211" /><Relationship Type="http://schemas.openxmlformats.org/officeDocument/2006/relationships/slideLayout" Target="/ppt/slideLayouts/slideLayout1.xml" Id="Rd981057fa63a4a1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81057fa63a4a1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a69b737884676" /><Relationship Type="http://schemas.openxmlformats.org/officeDocument/2006/relationships/image" Target="/ppt/media/image.png" Id="R6515a14fd1364767" /><Relationship Type="http://schemas.openxmlformats.org/officeDocument/2006/relationships/notesSlide" Target="/ppt/notesSlides/notesSlide1.xml" Id="R2c422e33d87d4b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c8cfe71f844f6" /><Relationship Type="http://schemas.openxmlformats.org/officeDocument/2006/relationships/image" Target="/ppt/media/image2.png" Id="R5f390a5a45c54108" /><Relationship Type="http://schemas.openxmlformats.org/officeDocument/2006/relationships/notesSlide" Target="/ppt/notesSlides/notesSlide2.xml" Id="Rc0a43aedffa04e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155e737dc4114" /><Relationship Type="http://schemas.openxmlformats.org/officeDocument/2006/relationships/image" Target="/ppt/media/image2.png" Id="Rb8fd60856be9461a" /><Relationship Type="http://schemas.openxmlformats.org/officeDocument/2006/relationships/notesSlide" Target="/ppt/notesSlides/notesSlide3.xml" Id="R31aecb96f6bf4d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c5c6b5f8e4c02" /><Relationship Type="http://schemas.openxmlformats.org/officeDocument/2006/relationships/image" Target="/ppt/media/image2.png" Id="R0c941655518d4eb8" /><Relationship Type="http://schemas.openxmlformats.org/officeDocument/2006/relationships/notesSlide" Target="/ppt/notesSlides/notesSlide4.xml" Id="R27b3599ad96c4b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af269d3ef42fc" /><Relationship Type="http://schemas.openxmlformats.org/officeDocument/2006/relationships/image" Target="/ppt/media/image2.png" Id="R9bfbc3440ea04838" /><Relationship Type="http://schemas.openxmlformats.org/officeDocument/2006/relationships/notesSlide" Target="/ppt/notesSlides/notesSlide5.xml" Id="R86b4c78d7fb84a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9613ff15b4886" /><Relationship Type="http://schemas.openxmlformats.org/officeDocument/2006/relationships/image" Target="/ppt/media/image2.png" Id="R82527957c1014182" /><Relationship Type="http://schemas.openxmlformats.org/officeDocument/2006/relationships/notesSlide" Target="/ppt/notesSlides/notesSlide6.xml" Id="R0f90a3b5ad7e43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104e37e664197" /><Relationship Type="http://schemas.openxmlformats.org/officeDocument/2006/relationships/image" Target="/ppt/media/image2.png" Id="Rb0162f9c0c304f7c" /><Relationship Type="http://schemas.openxmlformats.org/officeDocument/2006/relationships/notesSlide" Target="/ppt/notesSlides/notesSlide7.xml" Id="Rb1a145a4c5734e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ceca326a74980" /><Relationship Type="http://schemas.openxmlformats.org/officeDocument/2006/relationships/image" Target="/ppt/media/image2.png" Id="R8c2b795c819743e5" /><Relationship Type="http://schemas.openxmlformats.org/officeDocument/2006/relationships/notesSlide" Target="/ppt/notesSlides/notesSlide8.xml" Id="R430b7eef19e347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186fb437f4623" /><Relationship Type="http://schemas.openxmlformats.org/officeDocument/2006/relationships/image" Target="/ppt/media/image2.png" Id="Rabe59eaf04224bd4" /><Relationship Type="http://schemas.openxmlformats.org/officeDocument/2006/relationships/notesSlide" Target="/ppt/notesSlides/notesSlide9.xml" Id="R1e0ce575c4cd48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ccff54a924978" /><Relationship Type="http://schemas.openxmlformats.org/officeDocument/2006/relationships/image" Target="/ppt/media/image2.png" Id="R22373d8177664302" /><Relationship Type="http://schemas.openxmlformats.org/officeDocument/2006/relationships/notesSlide" Target="/ppt/notesSlides/notesSlide10.xml" Id="R4ea950035a984b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44c73e6724495" /><Relationship Type="http://schemas.openxmlformats.org/officeDocument/2006/relationships/image" Target="/ppt/media/image2.png" Id="R635175b477344d21" /><Relationship Type="http://schemas.openxmlformats.org/officeDocument/2006/relationships/notesSlide" Target="/ppt/notesSlides/notesSlide11.xml" Id="Rd9c11123eb9b41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c5cb674064726" /><Relationship Type="http://schemas.openxmlformats.org/officeDocument/2006/relationships/image" Target="/ppt/media/image2.png" Id="Rc9b215efde9b49d3" /><Relationship Type="http://schemas.openxmlformats.org/officeDocument/2006/relationships/image" Target="/ppt/media/image3.png" Id="Rbb00d2b4963b4843" /><Relationship Type="http://schemas.openxmlformats.org/officeDocument/2006/relationships/hyperlink" Target="https://slidesai.io/?utm_source=export&amp;utm_medium=pptx" TargetMode="External" Id="R9071426ef12c4a28" /><Relationship Type="http://schemas.openxmlformats.org/officeDocument/2006/relationships/notesSlide" Target="/ppt/notesSlides/notesSlide12.xml" Id="Rfde7026b59d04b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61075A6F-88BA-44F9-8496-350A43EC2A6F}"/>
              </a:ext>
            </a:extLst>
          </p:cNvPr>
          <p:cNvCxnSpPr/>
          <p:nvPr/>
        </p:nvCxnSpPr>
        <p:spPr>
          <a:xfrm xmlns:a="http://schemas.openxmlformats.org/drawingml/2006/main">
            <a:off x="876300" y="9096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11014D3-89A8-4C37-B759-389CCB6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0439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Technology &amp; IT</a:t>
            </a: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Training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7274046-F035-4BEA-B44E-229D5E3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D6FF"/>
              </a:buClr>
              <a:buSzPts val="2250"/>
              <a:buFont typeface="Inter"/>
              <a:buNone/>
            </a:pPr>
            <a:r>
              <a:rPr sz="2250" b="0" i="0" u="none" strike="noStrike" cap="none">
                <a:solidFill>
                  <a:srgbClr val="E2D6FF"/>
                </a:solidFill>
                <a:latin typeface="Inter"/>
                <a:ea typeface="Inter"/>
                <a:cs typeface="Inter"/>
              </a:rPr>
              <a:t>A practical introduction to the technology &amp; it roles at Q.</a:t>
            </a:r>
            <a:endParaRPr sz="225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D268EF1-3461-4679-8785-4F3584D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13901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80"/>
              <a:buFont typeface="Inter"/>
              <a:buNone/>
            </a:pPr>
            <a:r>
              <a:rPr sz="158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</a:t>
            </a:r>
            <a:endParaRPr sz="15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9CAA748-1580-4718-95ED-0A8986E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2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A234985F-A9F3-403C-8F79-F56527184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15a14fd13647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48850" y="1790700"/>
            <a:ext cx="1924050" cy="192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51654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CBF86F5C-0104-400E-A624-E105BB2C9E9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B896E2CE-057A-4CD3-AB96-4ADF76C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Role group purpose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9CD6598E-D24B-42A4-B46D-258DA0C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Build, test and maintain the technology and workplace systems that Q relies on.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348829BF-09DD-4377-B5EC-60A059F5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Deliver secure, reliable services and support colleagues through controlled, well-documented work.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Roles in this group: Software Engineer, QA Tester, IT Support Staff, Security or Systems Administrator.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E240636-00C2-4A0B-B096-6D97D56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Technology &amp; IT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3B94B37-4A42-432C-B6A6-A342391D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9DA131F0-747B-46A9-9C6D-3D837C27C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390a5a45c5410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4089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42541009-D1DA-44E9-B9D9-BE344CF908B9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1BEEDCF-9556-4BEC-AC52-3E844D1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Q’s mission and values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C87B0E37-740F-48AE-A981-7CB5B36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Apply trust, privacy and wellbeing to everyday work.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0B1C1BD5-0FDC-4A69-BA0B-88C57DD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Support people at their own pace.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Make support available when it is needed.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Put trust, privacy and user wellbeing at the centre.</a:t>
            </a: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77C359D1-562B-47D1-8163-D4DE00B7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Technology &amp; IT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5321BE0-D4A1-4B40-A70A-1765986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731A7D71-9B96-4A85-BD4B-55035DF608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fd60856be9461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49227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D46F3261-627A-4347-B5CC-856ACD674B4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C498A30F-3A34-4295-B1EF-D5667B3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Responsibilities and boundaries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9E54A5F2-0237-454A-B4A1-C114ECB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Know what the group owns, what needs review and what must be escalated.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2E21B003-7731-4668-A211-0479C89D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Build or configure systems to approved requirements.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Test changes and record defects.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Support accounts, devices and service incidents within role permissions.</a:t>
            </a: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15374D75-83E0-4354-9064-4B54A60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Technology &amp; IT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DE137094-7FF5-4BF1-B0A9-271D9D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E2AC20EA-4036-4D96-9D3E-E5B350140B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c941655518d4eb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1808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" name="Google Shape;63;p7">
            <a:extLst xmlns:a="http://schemas.openxmlformats.org/drawingml/2006/main">
              <a:ext uri="{FF2B5EF4-FFF2-40B4-BE49-F238E27FC236}">
                <a16:creationId xmlns:a16="http://schemas.microsoft.com/office/drawing/2014/main" id="{D6173F23-FD69-4C7F-B36D-F447C81D8CFB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C2E8DB0B-BF10-4B1B-B199-C7E1CA2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Planning and priorities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3347FBC0-74EB-4458-BFC5-44062F2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Use impact, evidence and agreed criteria to decide what comes first.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6" name="Google Shape;66;p7">
            <a:extLst xmlns:a="http://schemas.openxmlformats.org/drawingml/2006/main">
              <a:ext uri="{FF2B5EF4-FFF2-40B4-BE49-F238E27FC236}">
                <a16:creationId xmlns:a16="http://schemas.microsoft.com/office/drawing/2014/main" id="{EE90F1AB-D9E9-4EF8-AAD7-8378A83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Consider service impact, security risk and user need.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agreed release and support priorities.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Avoid risky shortcuts under time pressure.</a:t>
            </a:r>
          </a:p>
        </p:txBody>
      </p:sp>
      <p:sp>
        <p:nvSpPr>
          <p:cNvPr id="67" name="Google Shape;67;p7">
            <a:extLst xmlns:a="http://schemas.openxmlformats.org/drawingml/2006/main">
              <a:ext uri="{FF2B5EF4-FFF2-40B4-BE49-F238E27FC236}">
                <a16:creationId xmlns:a16="http://schemas.microsoft.com/office/drawing/2014/main" id="{80B12499-A067-477B-80D2-A66480D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Technology &amp; IT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8" name="Google Shape;68;p7">
            <a:extLst xmlns:a="http://schemas.openxmlformats.org/drawingml/2006/main">
              <a:ext uri="{FF2B5EF4-FFF2-40B4-BE49-F238E27FC236}">
                <a16:creationId xmlns:a16="http://schemas.microsoft.com/office/drawing/2014/main" id="{18592D3C-017B-4D23-A133-8DA2D47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69" name="Google Shape;69;p7">
            <a:extLst xmlns:a="http://schemas.openxmlformats.org/drawingml/2006/main">
              <a:ext uri="{FF2B5EF4-FFF2-40B4-BE49-F238E27FC236}">
                <a16:creationId xmlns:a16="http://schemas.microsoft.com/office/drawing/2014/main" id="{D9602B37-EE28-4086-B96E-FA576E8DC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fbc3440ea0483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8851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" name="Google Shape;75;p8">
            <a:extLst xmlns:a="http://schemas.openxmlformats.org/drawingml/2006/main">
              <a:ext uri="{FF2B5EF4-FFF2-40B4-BE49-F238E27FC236}">
                <a16:creationId xmlns:a16="http://schemas.microsoft.com/office/drawing/2014/main" id="{6406FE72-1174-4E7C-BDA2-27D89F6F2FCC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8">
            <a:extLst xmlns:a="http://schemas.openxmlformats.org/drawingml/2006/main">
              <a:ext uri="{FF2B5EF4-FFF2-40B4-BE49-F238E27FC236}">
                <a16:creationId xmlns:a16="http://schemas.microsoft.com/office/drawing/2014/main" id="{0708B561-51A0-4BA5-B446-58A8CFD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Design for the people Q serves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7" name="Google Shape;77;p8">
            <a:extLst xmlns:a="http://schemas.openxmlformats.org/drawingml/2006/main">
              <a:ext uri="{FF2B5EF4-FFF2-40B4-BE49-F238E27FC236}">
                <a16:creationId xmlns:a16="http://schemas.microsoft.com/office/drawing/2014/main" id="{472FE18F-023D-4D71-8825-7249E51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Make decisions with inclusion, accessibility and user trust in view.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8" name="Google Shape;78;p8">
            <a:extLst xmlns:a="http://schemas.openxmlformats.org/drawingml/2006/main">
              <a:ext uri="{FF2B5EF4-FFF2-40B4-BE49-F238E27FC236}">
                <a16:creationId xmlns:a16="http://schemas.microsoft.com/office/drawing/2014/main" id="{93839D5E-7C76-42F7-BC7B-837451BC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Explain technical steps in plain language.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accessible support and testing practices.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Avoid inspecting personal content beyond the support purpose.</a:t>
            </a:r>
          </a:p>
        </p:txBody>
      </p:sp>
      <p:sp>
        <p:nvSpPr>
          <p:cNvPr id="79" name="Google Shape;79;p8">
            <a:extLst xmlns:a="http://schemas.openxmlformats.org/drawingml/2006/main">
              <a:ext uri="{FF2B5EF4-FFF2-40B4-BE49-F238E27FC236}">
                <a16:creationId xmlns:a16="http://schemas.microsoft.com/office/drawing/2014/main" id="{703ED4B6-E020-4626-8634-C703968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Technology &amp; IT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0" name="Google Shape;80;p8">
            <a:extLst xmlns:a="http://schemas.openxmlformats.org/drawingml/2006/main">
              <a:ext uri="{FF2B5EF4-FFF2-40B4-BE49-F238E27FC236}">
                <a16:creationId xmlns:a16="http://schemas.microsoft.com/office/drawing/2014/main" id="{37286126-C26A-4A6D-8B86-F3E17AD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81" name="Google Shape;81;p8">
            <a:extLst xmlns:a="http://schemas.openxmlformats.org/drawingml/2006/main">
              <a:ext uri="{FF2B5EF4-FFF2-40B4-BE49-F238E27FC236}">
                <a16:creationId xmlns:a16="http://schemas.microsoft.com/office/drawing/2014/main" id="{CEB50299-5C44-4118-8DB8-70E2FAEBE0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527957c101418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6458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7" name="Google Shape;87;p9">
            <a:extLst xmlns:a="http://schemas.openxmlformats.org/drawingml/2006/main">
              <a:ext uri="{FF2B5EF4-FFF2-40B4-BE49-F238E27FC236}">
                <a16:creationId xmlns:a16="http://schemas.microsoft.com/office/drawing/2014/main" id="{5158D741-61E4-4F2F-A51B-478F69B3CEBA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9">
            <a:extLst xmlns:a="http://schemas.openxmlformats.org/drawingml/2006/main">
              <a:ext uri="{FF2B5EF4-FFF2-40B4-BE49-F238E27FC236}">
                <a16:creationId xmlns:a16="http://schemas.microsoft.com/office/drawing/2014/main" id="{5807D283-DA14-41D2-AD47-F0B8E9B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Privacy and information handling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9" name="Google Shape;89;p9">
            <a:extLst xmlns:a="http://schemas.openxmlformats.org/drawingml/2006/main">
              <a:ext uri="{FF2B5EF4-FFF2-40B4-BE49-F238E27FC236}">
                <a16:creationId xmlns:a16="http://schemas.microsoft.com/office/drawing/2014/main" id="{F406AA3A-6AAA-4851-8848-38B2904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only the information needed for an authorised purpose.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0" name="Google Shape;90;p9">
            <a:extLst xmlns:a="http://schemas.openxmlformats.org/drawingml/2006/main">
              <a:ext uri="{FF2B5EF4-FFF2-40B4-BE49-F238E27FC236}">
                <a16:creationId xmlns:a16="http://schemas.microsoft.com/office/drawing/2014/main" id="{97B3F973-A919-45DF-B6F4-442CBB27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approved environments and test data.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secrets and personal information out of routine records.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Follow retention and incident procedures.</a:t>
            </a:r>
          </a:p>
        </p:txBody>
      </p:sp>
      <p:sp>
        <p:nvSpPr>
          <p:cNvPr id="91" name="Google Shape;91;p9">
            <a:extLst xmlns:a="http://schemas.openxmlformats.org/drawingml/2006/main">
              <a:ext uri="{FF2B5EF4-FFF2-40B4-BE49-F238E27FC236}">
                <a16:creationId xmlns:a16="http://schemas.microsoft.com/office/drawing/2014/main" id="{BF9BBE0A-09A8-4555-B048-3F4673B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Technology &amp; IT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2" name="Google Shape;92;p9">
            <a:extLst xmlns:a="http://schemas.openxmlformats.org/drawingml/2006/main">
              <a:ext uri="{FF2B5EF4-FFF2-40B4-BE49-F238E27FC236}">
                <a16:creationId xmlns:a16="http://schemas.microsoft.com/office/drawing/2014/main" id="{F13080D0-0104-4E5C-9DDE-4416BD8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93" name="Google Shape;93;p9">
            <a:extLst xmlns:a="http://schemas.openxmlformats.org/drawingml/2006/main">
              <a:ext uri="{FF2B5EF4-FFF2-40B4-BE49-F238E27FC236}">
                <a16:creationId xmlns:a16="http://schemas.microsoft.com/office/drawing/2014/main" id="{B7870213-2D50-4576-8A1E-2AE9ED187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162f9c0c304f7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382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" name="Google Shape;99;p10">
            <a:extLst xmlns:a="http://schemas.openxmlformats.org/drawingml/2006/main">
              <a:ext uri="{FF2B5EF4-FFF2-40B4-BE49-F238E27FC236}">
                <a16:creationId xmlns:a16="http://schemas.microsoft.com/office/drawing/2014/main" id="{778F4881-FB76-4342-9B14-F45D8B6E1DD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0">
            <a:extLst xmlns:a="http://schemas.openxmlformats.org/drawingml/2006/main">
              <a:ext uri="{FF2B5EF4-FFF2-40B4-BE49-F238E27FC236}">
                <a16:creationId xmlns:a16="http://schemas.microsoft.com/office/drawing/2014/main" id="{B40AB0A5-9ED9-4738-808A-6B4E13C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Security and safe systems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1" name="Google Shape;101;p10">
            <a:extLst xmlns:a="http://schemas.openxmlformats.org/drawingml/2006/main">
              <a:ext uri="{FF2B5EF4-FFF2-40B4-BE49-F238E27FC236}">
                <a16:creationId xmlns:a16="http://schemas.microsoft.com/office/drawing/2014/main" id="{AFC6EA5E-0451-4C6B-98F1-0BDCB2D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Protect accounts, assets, content and work records.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2" name="Google Shape;102;p10">
            <a:extLst xmlns:a="http://schemas.openxmlformats.org/drawingml/2006/main">
              <a:ext uri="{FF2B5EF4-FFF2-40B4-BE49-F238E27FC236}">
                <a16:creationId xmlns:a16="http://schemas.microsoft.com/office/drawing/2014/main" id="{78CCA798-D69F-4923-9AC6-C72452C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Protect credentials, devices, code and configuration.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Review dependencies and access using approved controls.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Report suspicious activity or exposure promptly.</a:t>
            </a:r>
          </a:p>
        </p:txBody>
      </p:sp>
      <p:sp>
        <p:nvSpPr>
          <p:cNvPr id="103" name="Google Shape;103;p10">
            <a:extLst xmlns:a="http://schemas.openxmlformats.org/drawingml/2006/main">
              <a:ext uri="{FF2B5EF4-FFF2-40B4-BE49-F238E27FC236}">
                <a16:creationId xmlns:a16="http://schemas.microsoft.com/office/drawing/2014/main" id="{E1C66EBC-F1C7-43D9-900C-E842DA8B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Technology &amp; IT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4" name="Google Shape;104;p10">
            <a:extLst xmlns:a="http://schemas.openxmlformats.org/drawingml/2006/main">
              <a:ext uri="{FF2B5EF4-FFF2-40B4-BE49-F238E27FC236}">
                <a16:creationId xmlns:a16="http://schemas.microsoft.com/office/drawing/2014/main" id="{5DF53ADC-0A8E-4AB8-9BCA-B18FA22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05" name="Google Shape;105;p10">
            <a:extLst xmlns:a="http://schemas.openxmlformats.org/drawingml/2006/main">
              <a:ext uri="{FF2B5EF4-FFF2-40B4-BE49-F238E27FC236}">
                <a16:creationId xmlns:a16="http://schemas.microsoft.com/office/drawing/2014/main" id="{92FD8F15-3DD9-40E9-8F86-84118DD92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2b795c819743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5929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" name="Google Shape;111;p11">
            <a:extLst xmlns:a="http://schemas.openxmlformats.org/drawingml/2006/main">
              <a:ext uri="{FF2B5EF4-FFF2-40B4-BE49-F238E27FC236}">
                <a16:creationId xmlns:a16="http://schemas.microsoft.com/office/drawing/2014/main" id="{D473DEA8-8233-4C56-8975-B049B63E794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1">
            <a:extLst xmlns:a="http://schemas.openxmlformats.org/drawingml/2006/main">
              <a:ext uri="{FF2B5EF4-FFF2-40B4-BE49-F238E27FC236}">
                <a16:creationId xmlns:a16="http://schemas.microsoft.com/office/drawing/2014/main" id="{BB52F5D2-3DEF-43B6-8E41-4027E26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Tools, workflows and records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3" name="Google Shape;113;p11">
            <a:extLst xmlns:a="http://schemas.openxmlformats.org/drawingml/2006/main">
              <a:ext uri="{FF2B5EF4-FFF2-40B4-BE49-F238E27FC236}">
                <a16:creationId xmlns:a16="http://schemas.microsoft.com/office/drawing/2014/main" id="{4FE7294D-B6F3-4F56-B3A3-0BFA9AA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approved tools and leave work traceable for colleagues.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4" name="Google Shape;114;p11">
            <a:extLst xmlns:a="http://schemas.openxmlformats.org/drawingml/2006/main">
              <a:ext uri="{FF2B5EF4-FFF2-40B4-BE49-F238E27FC236}">
                <a16:creationId xmlns:a16="http://schemas.microsoft.com/office/drawing/2014/main" id="{373BF450-BFCB-47B1-865F-AAF7AA9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documented request, review, test, change and recovery steps.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Record what changed and how it was verified.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ticket or work ownership clear.</a:t>
            </a:r>
          </a:p>
        </p:txBody>
      </p:sp>
      <p:sp>
        <p:nvSpPr>
          <p:cNvPr id="115" name="Google Shape;115;p11">
            <a:extLst xmlns:a="http://schemas.openxmlformats.org/drawingml/2006/main">
              <a:ext uri="{FF2B5EF4-FFF2-40B4-BE49-F238E27FC236}">
                <a16:creationId xmlns:a16="http://schemas.microsoft.com/office/drawing/2014/main" id="{E0B51D5F-67B8-4729-85D2-5D79B6F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Technology &amp; IT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6" name="Google Shape;116;p11">
            <a:extLst xmlns:a="http://schemas.openxmlformats.org/drawingml/2006/main">
              <a:ext uri="{FF2B5EF4-FFF2-40B4-BE49-F238E27FC236}">
                <a16:creationId xmlns:a16="http://schemas.microsoft.com/office/drawing/2014/main" id="{F3B4E15B-8D04-4181-9CEC-6632E21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17" name="Google Shape;117;p11">
            <a:extLst xmlns:a="http://schemas.openxmlformats.org/drawingml/2006/main">
              <a:ext uri="{FF2B5EF4-FFF2-40B4-BE49-F238E27FC236}">
                <a16:creationId xmlns:a16="http://schemas.microsoft.com/office/drawing/2014/main" id="{842193E2-A710-4D17-8EEB-FB24254DCD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e59eaf04224b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52049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3" name="Google Shape;123;p12">
            <a:extLst xmlns:a="http://schemas.openxmlformats.org/drawingml/2006/main">
              <a:ext uri="{FF2B5EF4-FFF2-40B4-BE49-F238E27FC236}">
                <a16:creationId xmlns:a16="http://schemas.microsoft.com/office/drawing/2014/main" id="{B6AE546D-7FC1-4B63-973A-07683B03AF5C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12">
            <a:extLst xmlns:a="http://schemas.openxmlformats.org/drawingml/2006/main">
              <a:ext uri="{FF2B5EF4-FFF2-40B4-BE49-F238E27FC236}">
                <a16:creationId xmlns:a16="http://schemas.microsoft.com/office/drawing/2014/main" id="{FEF98001-283A-436B-94F0-26390B6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Collaboration and communication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5" name="Google Shape;125;p12">
            <a:extLst xmlns:a="http://schemas.openxmlformats.org/drawingml/2006/main">
              <a:ext uri="{FF2B5EF4-FFF2-40B4-BE49-F238E27FC236}">
                <a16:creationId xmlns:a16="http://schemas.microsoft.com/office/drawing/2014/main" id="{6E468CDF-917C-4DE5-98AC-B9024BC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Coordinate work clearly across teams and with the people affected.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6" name="Google Shape;126;p12">
            <a:extLst xmlns:a="http://schemas.openxmlformats.org/drawingml/2006/main">
              <a:ext uri="{FF2B5EF4-FFF2-40B4-BE49-F238E27FC236}">
                <a16:creationId xmlns:a16="http://schemas.microsoft.com/office/drawing/2014/main" id="{C4505444-F0C7-40F1-AD11-AF48AF8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Coordinate with product, operations, support and governance.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Share dependencies and release risks early.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Provide a clear hand-off and support notes.</a:t>
            </a:r>
          </a:p>
        </p:txBody>
      </p:sp>
      <p:sp>
        <p:nvSpPr>
          <p:cNvPr id="127" name="Google Shape;127;p12">
            <a:extLst xmlns:a="http://schemas.openxmlformats.org/drawingml/2006/main">
              <a:ext uri="{FF2B5EF4-FFF2-40B4-BE49-F238E27FC236}">
                <a16:creationId xmlns:a16="http://schemas.microsoft.com/office/drawing/2014/main" id="{CCE26D17-E053-40A1-8C7E-B28B869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Technology &amp; IT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8" name="Google Shape;128;p12">
            <a:extLst xmlns:a="http://schemas.openxmlformats.org/drawingml/2006/main">
              <a:ext uri="{FF2B5EF4-FFF2-40B4-BE49-F238E27FC236}">
                <a16:creationId xmlns:a16="http://schemas.microsoft.com/office/drawing/2014/main" id="{69590FF4-6382-4D4D-B03F-9BF8391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29" name="Google Shape;129;p12">
            <a:extLst xmlns:a="http://schemas.openxmlformats.org/drawingml/2006/main">
              <a:ext uri="{FF2B5EF4-FFF2-40B4-BE49-F238E27FC236}">
                <a16:creationId xmlns:a16="http://schemas.microsoft.com/office/drawing/2014/main" id="{AFEF35E4-2D85-478F-A881-E642EA4F6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373d81776643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0661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5" name="Google Shape;135;p13">
            <a:extLst xmlns:a="http://schemas.openxmlformats.org/drawingml/2006/main">
              <a:ext uri="{FF2B5EF4-FFF2-40B4-BE49-F238E27FC236}">
                <a16:creationId xmlns:a16="http://schemas.microsoft.com/office/drawing/2014/main" id="{F5C1F1E7-6154-426C-8A34-E2529ECE3B25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13">
            <a:extLst xmlns:a="http://schemas.openxmlformats.org/drawingml/2006/main">
              <a:ext uri="{FF2B5EF4-FFF2-40B4-BE49-F238E27FC236}">
                <a16:creationId xmlns:a16="http://schemas.microsoft.com/office/drawing/2014/main" id="{7BC61D08-7A4D-4387-B949-DF3D0BD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Risk, escalation and incidents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7" name="Google Shape;137;p13">
            <a:extLst xmlns:a="http://schemas.openxmlformats.org/drawingml/2006/main">
              <a:ext uri="{FF2B5EF4-FFF2-40B4-BE49-F238E27FC236}">
                <a16:creationId xmlns:a16="http://schemas.microsoft.com/office/drawing/2014/main" id="{C5180E71-D4D9-45CB-8EEC-3135B97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Recognise when normal work must pause for review or escalation.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8" name="Google Shape;138;p13">
            <a:extLst xmlns:a="http://schemas.openxmlformats.org/drawingml/2006/main">
              <a:ext uri="{FF2B5EF4-FFF2-40B4-BE49-F238E27FC236}">
                <a16:creationId xmlns:a16="http://schemas.microsoft.com/office/drawing/2014/main" id="{49C7850D-C271-45F0-9A6D-5469ADA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Unauthorised access, insecure changes, data exposure, service disruption and unresolved defects.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9" name="Google Shape;139;p13">
            <a:extLst xmlns:a="http://schemas.openxmlformats.org/drawingml/2006/main">
              <a:ext uri="{FF2B5EF4-FFF2-40B4-BE49-F238E27FC236}">
                <a16:creationId xmlns:a16="http://schemas.microsoft.com/office/drawing/2014/main" id="{727A2086-B4BB-4117-B317-EDCD31FB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Technology &amp; IT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0" name="Google Shape;140;p13">
            <a:extLst xmlns:a="http://schemas.openxmlformats.org/drawingml/2006/main">
              <a:ext uri="{FF2B5EF4-FFF2-40B4-BE49-F238E27FC236}">
                <a16:creationId xmlns:a16="http://schemas.microsoft.com/office/drawing/2014/main" id="{7B641BF9-D7EA-45A0-8C74-37626AF1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41" name="Google Shape;141;p13">
            <a:extLst xmlns:a="http://schemas.openxmlformats.org/drawingml/2006/main">
              <a:ext uri="{FF2B5EF4-FFF2-40B4-BE49-F238E27FC236}">
                <a16:creationId xmlns:a16="http://schemas.microsoft.com/office/drawing/2014/main" id="{8863DEE0-0F73-4233-8991-4DA019688D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5175b477344d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4330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7" name="Google Shape;147;p14">
            <a:extLst xmlns:a="http://schemas.openxmlformats.org/drawingml/2006/main">
              <a:ext uri="{FF2B5EF4-FFF2-40B4-BE49-F238E27FC236}">
                <a16:creationId xmlns:a16="http://schemas.microsoft.com/office/drawing/2014/main" id="{A3C3CA14-1216-4DC8-BB5A-B0410B6D7857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4">
            <a:extLst xmlns:a="http://schemas.openxmlformats.org/drawingml/2006/main">
              <a:ext uri="{FF2B5EF4-FFF2-40B4-BE49-F238E27FC236}">
                <a16:creationId xmlns:a16="http://schemas.microsoft.com/office/drawing/2014/main" id="{7471060F-DD71-49B0-8820-9B9520F8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Practice, assessment and sign-off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9" name="Google Shape;149;p14">
            <a:extLst xmlns:a="http://schemas.openxmlformats.org/drawingml/2006/main">
              <a:ext uri="{FF2B5EF4-FFF2-40B4-BE49-F238E27FC236}">
                <a16:creationId xmlns:a16="http://schemas.microsoft.com/office/drawing/2014/main" id="{EEFAC795-CA85-46B8-A1B4-8C14486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Demonstrate careful, accurate work before taking on independent responsibilities.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0" name="Google Shape;150;p14">
            <a:extLst xmlns:a="http://schemas.openxmlformats.org/drawingml/2006/main">
              <a:ext uri="{FF2B5EF4-FFF2-40B4-BE49-F238E27FC236}">
                <a16:creationId xmlns:a16="http://schemas.microsoft.com/office/drawing/2014/main" id="{426C4ACA-D79D-49C1-A5C2-2BEC300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Changes follow review and testing steps.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Issues and security risks are escalated promptly.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Work records let another colleague continue safely.</a:t>
            </a:r>
          </a:p>
        </p:txBody>
      </p:sp>
      <p:sp>
        <p:nvSpPr>
          <p:cNvPr id="151" name="Google Shape;151;p14">
            <a:extLst xmlns:a="http://schemas.openxmlformats.org/drawingml/2006/main">
              <a:ext uri="{FF2B5EF4-FFF2-40B4-BE49-F238E27FC236}">
                <a16:creationId xmlns:a16="http://schemas.microsoft.com/office/drawing/2014/main" id="{26DCA0A9-B89E-436F-BE73-9B8D817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Technology &amp; IT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2" name="Google Shape;152;p14">
            <a:extLst xmlns:a="http://schemas.openxmlformats.org/drawingml/2006/main">
              <a:ext uri="{FF2B5EF4-FFF2-40B4-BE49-F238E27FC236}">
                <a16:creationId xmlns:a16="http://schemas.microsoft.com/office/drawing/2014/main" id="{B678FB59-6A6B-4996-9B96-A97D146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53" name="Google Shape;153;p14">
            <a:extLst xmlns:a="http://schemas.openxmlformats.org/drawingml/2006/main">
              <a:ext uri="{FF2B5EF4-FFF2-40B4-BE49-F238E27FC236}">
                <a16:creationId xmlns:a16="http://schemas.microsoft.com/office/drawing/2014/main" id="{09641032-E8A3-483A-890E-3632B80627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b215efde9b49d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54;p14">
            <a:extLst xmlns:a="http://schemas.openxmlformats.org/drawingml/2006/main">
              <a:ext uri="{FF2B5EF4-FFF2-40B4-BE49-F238E27FC236}">
                <a16:creationId xmlns:a16="http://schemas.microsoft.com/office/drawing/2014/main" id="{1087ED7E-84B0-45F7-A02C-6576D2242D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00d2b4963b48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14">
            <a:hlinkClick xmlns:r="http://schemas.openxmlformats.org/officeDocument/2006/relationships" xmlns:a="http://schemas.openxmlformats.org/drawingml/2006/main" r:id="R9071426ef12c4a28"/>
            <a:extLst xmlns:a="http://schemas.openxmlformats.org/drawingml/2006/main">
              <a:ext uri="{FF2B5EF4-FFF2-40B4-BE49-F238E27FC236}">
                <a16:creationId xmlns:a16="http://schemas.microsoft.com/office/drawing/2014/main" id="{E4359F24-21DB-4C12-BD47-4FB38B3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975598"/>
      </p:ext>
    </p:extLst>
  </p:cSld>
</p:sld>
</file>

<file path=ppt/theme/theme1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2026-10-19T19:42:19.5460000Z</dcterms:created>
  <dcterms:modified xsi:type="dcterms:W3CDTF">2026-10-19T19:42:19.5460000Z</dcterms:modified>
</coreProperties>
</file>